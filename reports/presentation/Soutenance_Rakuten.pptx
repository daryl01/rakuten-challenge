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bd9df79-85c8-3c70-3a27-8293fb8f85cf}">
          <p14:sldIdLst>
            <p14:sldId id="256"/>
            <p14:sldId id="257"/>
          </p14:sldIdLst>
        </p14:section>
        <p14:section name="Données" id="{3e6d65b1-3fe5-2bba-b3a5-52317f26e676}">
          <p14:sldIdLst>
            <p14:sldId id="258"/>
            <p14:sldId id="259"/>
          </p14:sldIdLst>
        </p14:section>
        <p14:section name="Méthode" id="{5b264d2a-f050-ff7a-41e0-1ed8ea79206f}">
          <p14:sldIdLst>
            <p14:sldId id="260"/>
            <p14:sldId id="261"/>
            <p14:sldId id="262"/>
          </p14:sldIdLst>
        </p14:section>
        <p14:section name="Résultats" id="{0c9696e7-a4f9-2694-4c47-fddcb1dfd182}">
          <p14:sldIdLst>
            <p14:sldId id="263"/>
            <p14:sldId id="264"/>
          </p14:sldIdLst>
        </p14:section>
        <p14:section name="Interprétabilité" id="{80ef7239-c285-98f5-4d0a-0bc6491cff06}">
          <p14:sldIdLst>
            <p14:sldId id="265"/>
            <p14:sldId id="266"/>
          </p14:sldIdLst>
        </p14:section>
        <p14:section name="Analyse des erreurs" id="{0235983d-0bed-8a2e-2692-5a3388302705}">
          <p14:sldIdLst>
            <p14:sldId id="267"/>
            <p14:sldId id="268"/>
          </p14:sldIdLst>
        </p14:section>
        <p14:section name="Démonstration" id="{64dd5c5e-3930-5004-300a-c4bf68ea1c2d}">
          <p14:sldIdLst>
            <p14:sldId id="269"/>
          </p14:sldIdLst>
        </p14:section>
        <p14:section name="Conclusion" id="{d1d0323c-f9de-6aeb-8976-803da069c36d}">
          <p14:sldIdLst>
            <p14:sldId id="270"/>
            <p14:sldId id="271"/>
          </p14:sldIdLst>
        </p14:section>
        <p14:section name="Annexes" id="{f6e09a28-049c-84b1-e5a2-75cde7fdda9f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Produits</c:v>
                </c:pt>
              </c:strCache>
            </c:strRef>
          </c:tx>
          <c:spPr>
            <a:solidFill>
              <a:srgbClr val="BF1E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F1E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4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5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6"/>
            <c:invertIfNegative val="0"/>
            <c:bubble3D val="0"/>
            <c:spPr>
              <a:solidFill>
                <a:srgbClr val="BF1E2E"/>
              </a:solidFill>
              <a:effectLst/>
            </c:spPr>
          </c:dPt>
          <c:cat>
            <c:multiLvlStrRef>
              <c:f>Sheet1!$A$2:$A$28</c:f>
              <c:multiLvlStrCache>
                <c:ptCount val="27"/>
                <c:lvl>
                  <c:pt idx="0">
                    <c:v>2583</c:v>
                  </c:pt>
                  <c:pt idx="1">
                    <c:v>1560</c:v>
                  </c:pt>
                  <c:pt idx="2">
                    <c:v>1300</c:v>
                  </c:pt>
                  <c:pt idx="3">
                    <c:v>2060</c:v>
                  </c:pt>
                  <c:pt idx="4">
                    <c:v>2522</c:v>
                  </c:pt>
                  <c:pt idx="5">
                    <c:v>1280</c:v>
                  </c:pt>
                  <c:pt idx="6">
                    <c:v>2403</c:v>
                  </c:pt>
                  <c:pt idx="7">
                    <c:v>2280</c:v>
                  </c:pt>
                  <c:pt idx="8">
                    <c:v>1920</c:v>
                  </c:pt>
                  <c:pt idx="9">
                    <c:v>1160</c:v>
                  </c:pt>
                  <c:pt idx="10">
                    <c:v>1320</c:v>
                  </c:pt>
                  <c:pt idx="11">
                    <c:v>10</c:v>
                  </c:pt>
                  <c:pt idx="12">
                    <c:v>2705</c:v>
                  </c:pt>
                  <c:pt idx="13">
                    <c:v>1140</c:v>
                  </c:pt>
                  <c:pt idx="14">
                    <c:v>2582</c:v>
                  </c:pt>
                  <c:pt idx="15">
                    <c:v>40</c:v>
                  </c:pt>
                  <c:pt idx="16">
                    <c:v>2585</c:v>
                  </c:pt>
                  <c:pt idx="17">
                    <c:v>1302</c:v>
                  </c:pt>
                  <c:pt idx="18">
                    <c:v>1281</c:v>
                  </c:pt>
                  <c:pt idx="19">
                    <c:v>50</c:v>
                  </c:pt>
                  <c:pt idx="20">
                    <c:v>2462</c:v>
                  </c:pt>
                  <c:pt idx="21">
                    <c:v>2905</c:v>
                  </c:pt>
                  <c:pt idx="22">
                    <c:v>60</c:v>
                  </c:pt>
                  <c:pt idx="23">
                    <c:v>2220</c:v>
                  </c:pt>
                  <c:pt idx="24">
                    <c:v>1301</c:v>
                  </c:pt>
                  <c:pt idx="25">
                    <c:v>1940</c:v>
                  </c:pt>
                  <c:pt idx="26">
                    <c:v>1180</c:v>
                  </c:pt>
                </c:lvl>
              </c:multiLvlStrCache>
            </c:multiLvl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10209</c:v>
                </c:pt>
                <c:pt idx="1">
                  <c:v>5073</c:v>
                </c:pt>
                <c:pt idx="2">
                  <c:v>5045</c:v>
                </c:pt>
                <c:pt idx="3">
                  <c:v>4993</c:v>
                </c:pt>
                <c:pt idx="4">
                  <c:v>4989</c:v>
                </c:pt>
                <c:pt idx="5">
                  <c:v>4870</c:v>
                </c:pt>
                <c:pt idx="6">
                  <c:v>4774</c:v>
                </c:pt>
                <c:pt idx="7">
                  <c:v>4760</c:v>
                </c:pt>
                <c:pt idx="8">
                  <c:v>4303</c:v>
                </c:pt>
                <c:pt idx="9">
                  <c:v>3953</c:v>
                </c:pt>
                <c:pt idx="10">
                  <c:v>3241</c:v>
                </c:pt>
                <c:pt idx="11">
                  <c:v>3116</c:v>
                </c:pt>
                <c:pt idx="12">
                  <c:v>2761</c:v>
                </c:pt>
                <c:pt idx="13">
                  <c:v>2671</c:v>
                </c:pt>
                <c:pt idx="14">
                  <c:v>2589</c:v>
                </c:pt>
                <c:pt idx="15">
                  <c:v>2508</c:v>
                </c:pt>
                <c:pt idx="16">
                  <c:v>2496</c:v>
                </c:pt>
                <c:pt idx="17">
                  <c:v>2491</c:v>
                </c:pt>
                <c:pt idx="18">
                  <c:v>2070</c:v>
                </c:pt>
                <c:pt idx="19">
                  <c:v>1681</c:v>
                </c:pt>
                <c:pt idx="20">
                  <c:v>1421</c:v>
                </c:pt>
                <c:pt idx="21">
                  <c:v>872</c:v>
                </c:pt>
                <c:pt idx="22">
                  <c:v>832</c:v>
                </c:pt>
                <c:pt idx="23">
                  <c:v>824</c:v>
                </c:pt>
                <c:pt idx="24">
                  <c:v>807</c:v>
                </c:pt>
                <c:pt idx="25">
                  <c:v>803</c:v>
                </c:pt>
                <c:pt idx="26">
                  <c:v>764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Arial"/>
                  </a:rPr>
                  <a:t>Code de catégorie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-5400000"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Arial"/>
                  </a:rPr>
                  <a:t>Produits</a:t>
                </a:r>
              </a:p>
            </c:rich>
          </c:tx>
          <c:layout/>
          <c:overlay val="0"/>
        </c:title>
        <c:numFmt formatCode="# 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pondéré</c:v>
                </c:pt>
              </c:strCache>
            </c:strRef>
          </c:tx>
          <c:spPr>
            <a:solidFill>
              <a:srgbClr val="BF1E2E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F1E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TF-IDF + LinearSVC</c:v>
                  </c:pt>
                  <c:pt idx="1">
                    <c:v>Repère Rakuten texte</c:v>
                  </c:pt>
                  <c:pt idx="2">
                    <c:v>SBERT + MLP</c:v>
                  </c:pt>
                  <c:pt idx="3">
                    <c:v>Fusion SBERT + ResNet50</c:v>
                  </c:pt>
                  <c:pt idx="4">
                    <c:v>SBERT + régression logistique</c:v>
                  </c:pt>
                  <c:pt idx="5">
                    <c:v>ResNet50 (image)</c:v>
                  </c:pt>
                  <c:pt idx="6">
                    <c:v>Repère Rakuten image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0.8316</c:v>
                </c:pt>
                <c:pt idx="1">
                  <c:v>0.8113</c:v>
                </c:pt>
                <c:pt idx="2">
                  <c:v>0.7542</c:v>
                </c:pt>
                <c:pt idx="3">
                  <c:v>0.7105</c:v>
                </c:pt>
                <c:pt idx="4">
                  <c:v>0.6829</c:v>
                </c:pt>
                <c:pt idx="5">
                  <c:v>0.6799</c:v>
                </c:pt>
                <c:pt idx="6">
                  <c:v>0.5534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3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2A6F9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6F9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6F9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6F9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6F9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6F9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F1E2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F1E2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F1E2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F1E2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F1E2E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format livr</c:v>
                  </c:pt>
                  <c:pt idx="1">
                    <c:v>traduit</c:v>
                  </c:pt>
                  <c:pt idx="2">
                    <c:v>dico</c:v>
                  </c:pt>
                  <c:pt idx="3">
                    <c:v>cookbook</c:v>
                  </c:pt>
                  <c:pt idx="4">
                    <c:v>espion</c:v>
                  </c:pt>
                  <c:pt idx="5">
                    <c:v>06</c:v>
                  </c:pt>
                  <c:pt idx="6">
                    <c:v>yu</c:v>
                  </c:pt>
                  <c:pt idx="7">
                    <c:v>import</c:v>
                  </c:pt>
                  <c:pt idx="8">
                    <c:v>jeu</c:v>
                  </c:pt>
                  <c:pt idx="9">
                    <c:v>lot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1.89</c:v>
                </c:pt>
                <c:pt idx="1">
                  <c:v>1.83</c:v>
                </c:pt>
                <c:pt idx="2">
                  <c:v>1.82</c:v>
                </c:pt>
                <c:pt idx="3">
                  <c:v>1.8</c:v>
                </c:pt>
                <c:pt idx="4">
                  <c:v>1.77</c:v>
                </c:pt>
                <c:pt idx="5">
                  <c:v>-1.77</c:v>
                </c:pt>
                <c:pt idx="6">
                  <c:v>-1.82</c:v>
                </c:pt>
                <c:pt idx="7">
                  <c:v>-1.83</c:v>
                </c:pt>
                <c:pt idx="8">
                  <c:v>-2.11</c:v>
                </c:pt>
                <c:pt idx="9">
                  <c:v>-3.44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.5"/>
          <c:min val="-4"/>
        </c:scaling>
        <c:delete val="0"/>
        <c:axPos val="b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solidFill>
              <a:srgbClr val="2A6F97"/>
            </a:solidFill>
            <a:effectLst/>
          </c:spPr>
          <c:invertIfNegative val="0"/>
          <c:dLbls>
            <c:numFmt formatCode="+0.000;-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6F9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6F9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6F9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6F9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F1E2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1997</c:v>
                  </c:pt>
                  <c:pt idx="1">
                    <c:v>gen</c:v>
                  </c:pt>
                  <c:pt idx="2">
                    <c:v>revu</c:v>
                  </c:pt>
                  <c:pt idx="3">
                    <c:v>justic</c:v>
                  </c:pt>
                  <c:pt idx="4">
                    <c:v>no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0.396</c:v>
                </c:pt>
                <c:pt idx="1">
                  <c:v>0.257</c:v>
                </c:pt>
                <c:pt idx="2">
                  <c:v>0.236</c:v>
                </c:pt>
                <c:pt idx="3">
                  <c:v>0.208</c:v>
                </c:pt>
                <c:pt idx="4">
                  <c:v>-0.098</c:v>
                </c:pt>
              </c:numCache>
            </c:numRef>
          </c:val>
        </c:ser>
        <c:dLbls>
          <c:numFmt formatCode="+0.000;-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0.5"/>
          <c:min val="-0.2"/>
        </c:scaling>
        <c:delete val="0"/>
        <c:axPos val="b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BF1E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F1E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F1E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F1E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F1E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4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5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6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cat>
            <c:multiLvlStrRef>
              <c:f>Sheet1!$A$2:$A$28</c:f>
              <c:multiLvlStrCache>
                <c:ptCount val="27"/>
                <c:lvl>
                  <c:pt idx="0">
                    <c:v>10</c:v>
                  </c:pt>
                  <c:pt idx="1">
                    <c:v>1281</c:v>
                  </c:pt>
                  <c:pt idx="2">
                    <c:v>1180</c:v>
                  </c:pt>
                  <c:pt idx="3">
                    <c:v>1280</c:v>
                  </c:pt>
                  <c:pt idx="4">
                    <c:v>2705</c:v>
                  </c:pt>
                  <c:pt idx="5">
                    <c:v>40</c:v>
                  </c:pt>
                  <c:pt idx="6">
                    <c:v>2403</c:v>
                  </c:pt>
                  <c:pt idx="7">
                    <c:v>2280</c:v>
                  </c:pt>
                  <c:pt idx="8">
                    <c:v>2582</c:v>
                  </c:pt>
                  <c:pt idx="9">
                    <c:v>1140</c:v>
                  </c:pt>
                  <c:pt idx="10">
                    <c:v>2462</c:v>
                  </c:pt>
                  <c:pt idx="11">
                    <c:v>1302</c:v>
                  </c:pt>
                  <c:pt idx="12">
                    <c:v>50</c:v>
                  </c:pt>
                  <c:pt idx="13">
                    <c:v>2060</c:v>
                  </c:pt>
                  <c:pt idx="14">
                    <c:v>2585</c:v>
                  </c:pt>
                  <c:pt idx="15">
                    <c:v>1560</c:v>
                  </c:pt>
                  <c:pt idx="16">
                    <c:v>1320</c:v>
                  </c:pt>
                  <c:pt idx="17">
                    <c:v>60</c:v>
                  </c:pt>
                  <c:pt idx="18">
                    <c:v>2220</c:v>
                  </c:pt>
                  <c:pt idx="19">
                    <c:v>1300</c:v>
                  </c:pt>
                  <c:pt idx="20">
                    <c:v>1920</c:v>
                  </c:pt>
                  <c:pt idx="21">
                    <c:v>1940</c:v>
                  </c:pt>
                  <c:pt idx="22">
                    <c:v>1160</c:v>
                  </c:pt>
                  <c:pt idx="23">
                    <c:v>2522</c:v>
                  </c:pt>
                  <c:pt idx="24">
                    <c:v>1301</c:v>
                  </c:pt>
                  <c:pt idx="25">
                    <c:v>2583</c:v>
                  </c:pt>
                  <c:pt idx="26">
                    <c:v>2905</c:v>
                  </c:pt>
                </c:lvl>
              </c:multiLvlStrCache>
            </c:multiLvl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0.5258</c:v>
                </c:pt>
                <c:pt idx="1">
                  <c:v>0.5982</c:v>
                </c:pt>
                <c:pt idx="2">
                  <c:v>0.6822</c:v>
                </c:pt>
                <c:pt idx="3">
                  <c:v>0.6915</c:v>
                </c:pt>
                <c:pt idx="4">
                  <c:v>0.7178</c:v>
                </c:pt>
                <c:pt idx="5">
                  <c:v>0.7231</c:v>
                </c:pt>
                <c:pt idx="6">
                  <c:v>0.73</c:v>
                </c:pt>
                <c:pt idx="7">
                  <c:v>0.7548</c:v>
                </c:pt>
                <c:pt idx="8">
                  <c:v>0.7781</c:v>
                </c:pt>
                <c:pt idx="9">
                  <c:v>0.8048</c:v>
                </c:pt>
                <c:pt idx="10">
                  <c:v>0.8125</c:v>
                </c:pt>
                <c:pt idx="11">
                  <c:v>0.8231</c:v>
                </c:pt>
                <c:pt idx="12">
                  <c:v>0.8282</c:v>
                </c:pt>
                <c:pt idx="13">
                  <c:v>0.8347</c:v>
                </c:pt>
                <c:pt idx="14">
                  <c:v>0.8349</c:v>
                </c:pt>
                <c:pt idx="15">
                  <c:v>0.8576</c:v>
                </c:pt>
                <c:pt idx="16">
                  <c:v>0.8596</c:v>
                </c:pt>
                <c:pt idx="17">
                  <c:v>0.8797</c:v>
                </c:pt>
                <c:pt idx="18">
                  <c:v>0.8923</c:v>
                </c:pt>
                <c:pt idx="19">
                  <c:v>0.9134</c:v>
                </c:pt>
                <c:pt idx="20">
                  <c:v>0.9149</c:v>
                </c:pt>
                <c:pt idx="21">
                  <c:v>0.924</c:v>
                </c:pt>
                <c:pt idx="22">
                  <c:v>0.9397</c:v>
                </c:pt>
                <c:pt idx="23">
                  <c:v>0.9448</c:v>
                </c:pt>
                <c:pt idx="24">
                  <c:v>0.9688</c:v>
                </c:pt>
                <c:pt idx="25">
                  <c:v>0.9796</c:v>
                </c:pt>
                <c:pt idx="26">
                  <c:v>0.9884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Arial"/>
                  </a:rPr>
                  <a:t>F1 de validation par catégorie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TF-IDF + LinearSVC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10</c:v>
                  </c:pt>
                  <c:pt idx="1">
                    <c:v>1281</c:v>
                  </c:pt>
                  <c:pt idx="2">
                    <c:v>1180</c:v>
                  </c:pt>
                  <c:pt idx="3">
                    <c:v>1280</c:v>
                  </c:pt>
                  <c:pt idx="4">
                    <c:v>2705</c:v>
                  </c:pt>
                  <c:pt idx="5">
                    <c:v>40</c:v>
                  </c:pt>
                  <c:pt idx="6">
                    <c:v>2403</c:v>
                  </c:pt>
                  <c:pt idx="7">
                    <c:v>2280</c:v>
                  </c:pt>
                  <c:pt idx="8">
                    <c:v>2582</c:v>
                  </c:pt>
                  <c:pt idx="9">
                    <c:v>1140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0.526</c:v>
                </c:pt>
                <c:pt idx="1">
                  <c:v>0.598</c:v>
                </c:pt>
                <c:pt idx="2">
                  <c:v>0.682</c:v>
                </c:pt>
                <c:pt idx="3">
                  <c:v>0.692</c:v>
                </c:pt>
                <c:pt idx="4">
                  <c:v>0.718</c:v>
                </c:pt>
                <c:pt idx="5">
                  <c:v>0.723</c:v>
                </c:pt>
                <c:pt idx="6">
                  <c:v>0.73</c:v>
                </c:pt>
                <c:pt idx="7">
                  <c:v>0.755</c:v>
                </c:pt>
                <c:pt idx="8">
                  <c:v>0.778</c:v>
                </c:pt>
                <c:pt idx="9">
                  <c:v>0.805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SBERT + MLP</c:v>
                </c:pt>
              </c:strCache>
            </c:strRef>
          </c:tx>
          <c:spPr>
            <a:solidFill>
              <a:srgbClr val="9AA5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10</c:v>
                  </c:pt>
                  <c:pt idx="1">
                    <c:v>1281</c:v>
                  </c:pt>
                  <c:pt idx="2">
                    <c:v>1180</c:v>
                  </c:pt>
                  <c:pt idx="3">
                    <c:v>1280</c:v>
                  </c:pt>
                  <c:pt idx="4">
                    <c:v>2705</c:v>
                  </c:pt>
                  <c:pt idx="5">
                    <c:v>40</c:v>
                  </c:pt>
                  <c:pt idx="6">
                    <c:v>2403</c:v>
                  </c:pt>
                  <c:pt idx="7">
                    <c:v>2280</c:v>
                  </c:pt>
                  <c:pt idx="8">
                    <c:v>2582</c:v>
                  </c:pt>
                  <c:pt idx="9">
                    <c:v>1140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0.457</c:v>
                </c:pt>
                <c:pt idx="1">
                  <c:v>0.528</c:v>
                </c:pt>
                <c:pt idx="2">
                  <c:v>0.513</c:v>
                </c:pt>
                <c:pt idx="3">
                  <c:v>0.603</c:v>
                </c:pt>
                <c:pt idx="4">
                  <c:v>0.684</c:v>
                </c:pt>
                <c:pt idx="5">
                  <c:v>0.603</c:v>
                </c:pt>
                <c:pt idx="6">
                  <c:v>0.667</c:v>
                </c:pt>
                <c:pt idx="7">
                  <c:v>0.737</c:v>
                </c:pt>
                <c:pt idx="8">
                  <c:v>0.719</c:v>
                </c:pt>
                <c:pt idx="9">
                  <c:v>0.683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Fusion</c:v>
                </c:pt>
              </c:strCache>
            </c:strRef>
          </c:tx>
          <c:spPr>
            <a:solidFill>
              <a:srgbClr val="2A6F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10</c:v>
                  </c:pt>
                  <c:pt idx="1">
                    <c:v>1281</c:v>
                  </c:pt>
                  <c:pt idx="2">
                    <c:v>1180</c:v>
                  </c:pt>
                  <c:pt idx="3">
                    <c:v>1280</c:v>
                  </c:pt>
                  <c:pt idx="4">
                    <c:v>2705</c:v>
                  </c:pt>
                  <c:pt idx="5">
                    <c:v>40</c:v>
                  </c:pt>
                  <c:pt idx="6">
                    <c:v>2403</c:v>
                  </c:pt>
                  <c:pt idx="7">
                    <c:v>2280</c:v>
                  </c:pt>
                  <c:pt idx="8">
                    <c:v>2582</c:v>
                  </c:pt>
                  <c:pt idx="9">
                    <c:v>1140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0.661</c:v>
                </c:pt>
                <c:pt idx="1">
                  <c:v>0.41</c:v>
                </c:pt>
                <c:pt idx="2">
                  <c:v>0.426</c:v>
                </c:pt>
                <c:pt idx="3">
                  <c:v>0.466</c:v>
                </c:pt>
                <c:pt idx="4">
                  <c:v>0.873</c:v>
                </c:pt>
                <c:pt idx="5">
                  <c:v>0.674</c:v>
                </c:pt>
                <c:pt idx="6">
                  <c:v>0.718</c:v>
                </c:pt>
                <c:pt idx="7">
                  <c:v>0.802</c:v>
                </c:pt>
                <c:pt idx="8">
                  <c:v>0.554</c:v>
                </c:pt>
                <c:pt idx="9">
                  <c:v>0.69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Arial"/>
                  </a:rPr>
                  <a:t>Les dix catégories les plus difficiles pour TF-IDF + LinearSVC (F1 de validation)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4A55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Khoty WOLIE. Durée : 0:30.
Message : présenter le sujet et l'équipe.
À dire :
- Bonjour, nous sommes Khoty WOLIE, HaoYue Yuan et Loyck Bibissi, encadrés par Kylian Santos.
- Notre projet : classer automatiquement les produits du catalogue Rakuten France en 27 catégories.
- Nous présenterons la démarche, les résultats, puis une démonstration de l'application.
Transition : commençons par le besoin métier.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Khoty WOLIE. Durée : 1:00.
Message : le besoin est concret : chaque fiche doit être rangée dans la bonne catégorie pour être trouvée.
À dire :
- Les vendeurs remplissent eux-mêmes leurs fiches : titres courts, descriptions parfois absentes, photos de qualité variable.
- La cible est le code prdtypecode, 27 valeurs possibles.
- La métrique officielle du challenge est le F1 pondéré ; le repère texte publié par Rakuten est 0,8113.
Transition : voyons ce que contiennent réellement ces 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Khoty WOLIE. Durée : 1:00.
Message : les données sont riches mais hétérogènes, et le texte n'est pas toujours complet.
À dire :
- 84 916 produits étiquetés servent à entraîner et valider ; les 13 812 produits de test n'ont pas d'étiquette.
- Plus d'un tiers des descriptions manque, et cette absence dépend de la catégorie.
- Le catalogue est multilingue : 60,9 % de français, 23,0 % d'anglais, 5,8 % d'allemand.
- Toutes les images sont présentes et au même format : le signal utile est dans leur contenu.
Transition : autre difficulté majeure : la répartition entre catégories.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Khoty WOLIE. Durée : 1:15.
Message : le déséquilibre impose la métrique et la façon de découper les données.
À dire :
- La catégorie 2583 compte 10 209 produits, la catégorie 1180 seulement 764 : un rapport de 13,4.
- Une simple exactitude favoriserait les grandes catégories ; le F1 pondéré tient compte de chaque classe selon son effectif.
- La validation est stratifiée pour garder les mêmes proportions dans chaque partition.
- Les libellés de catégories sont indicatifs : le challenge ne fournit que les codes.
Transition : voyons comment le texte est préparé avant la modélisation.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Khoty WOLIE. Durée : 1:15.
Message : le texte est normalisé de la même façon à l'entraînement et en production, ce qui garantit des prédictions cohérentes.
À dire :
- Cinq étapes : nettoyage, mots vides, racinisation, retrait de 27 mots fréquents peu discriminants, puis assemblage.
- L'exemple montre la sortie réelle : « cm », « x » et « plus » disparaissent, « piscine » devient « piscin ».
- Ce code est partagé par le notebook et l'application ; nous avons vérifié qu'il produit les mêmes textes sur 500 fiches.
- Si l'on nous interroge sur les rapports : ils décrivent une première version sans stopwords ni stemming.
Transition : je laisse la parole à HaoYue pour le protocole d'évaluation.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HaoYue Yuan. Durée : 0:45.
Message : tous les résultats présentés sont comparables entre eux, car obtenus sur la même partition de validation.
À dire :
- Découpage 80/20 stratifié, avec la même graine aléatoire pour tous les modèles.
- Métrique : F1 pondéré de scikit-learn, average égal à weighted.
- Nous n'avons pas de score sur le jeu de test : ses étiquettes ne sont pas fournies.
- Les repères Rakuten servent d'ordre de grandeur, pas de comparaison stricte.
Transition : voici les quatre approches que nous avons comparées.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HaoYue Yuan. Durée : 1:00.
Message : la démarche est progressive : chaque modèle répond à une question précise.
À dire :
- TF-IDF + LinearSVC : une référence rapide, qui exploite les mots et les paires de mots.
- SBERT + MLP : un encodage sémantique multilingue, pour tester si le sens aide plus que les mots exacts.
- ResNet50 : un modèle image par transfer learning, en deux phases.
- Fusion : concaténation des représentations texte et image, puis un réseau dense.
Transition : comparons maintenant leurs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HaoYue Yuan. Durée : 1:15.
Message : le modèle le plus simple est le plus performant sur ce catalogue.
À dire :
- TF-IDF + LinearSVC atteint 0,8316, devant SBERT + MLP (0,7542) et la fusion (0,7105).
- Le modèle image seul atteint 0,6799, nettement au-dessus du repère image Rakuten (0,5534).
- Tous ces scores sont mesurés sur la même validation de 16 984 produits.
- Ajouter de la complexité ou une modalité n'a pas suffi à battre le texte.
Transition : pourquoi ce résultat, et pourquoi retenir ce modèle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HaoYue Yuan. Durée : 1:15.
Message : le choix repose sur la performance, la simplicité et la reproductibilité ; l'écart avec les rapports est expliqué.
À dire :
- Le signal lexical est très fort dans les désignations : marques, références, vocabulaire de catégorie.
- Le modèle est léger : il tourne sans GPU, ce qui le rend déployable.
- Trois exécutions sur la même partition : 0,8403 le 8 juillet avec un nettoyage simple, 0,8349 le 31 août après ajout des stopwords et du stemming, 0,8316 le 3 septembre après retrait de 27 mots fréquents. Le score baisse légèrement quand le texte est simplifié.
- Nous retenons 0,8316 : c'est le score vérifié du modèle réellement utilisé. La taille des images (224 × 224 dans les trois cas) n'entre pas en jeu, ce modèle ne lit que le texte.
- L'application n'utilise pas l'image : la fusion reste une expérience d'étude.
Transition : comment ce modèle prend-il ses décisions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HaoYue Yuan. Durée : 1:15.
Message : le modèle retenu est interprétable : on peut lire, pour chaque catégorie, les termes qui pèsent dans la décision.
À dire :
- Le LinearSVC calcule un score par catégorie : la somme, sur les termes de la fiche, de coefficient × TF-IDF, plus une constante. La catégorie au score le plus haut est prédite.
- Lecture du graphique : pour les livres d'occasion, « format livr », « traduit », « dico » ou « cookbook » rapprochent de la catégorie ; « lot » l'éloigne fortement (−3,44), car il caractérise les lots de livres (2403).
- Autres exemples tirés du notebook 3 : « piscin » vaut +8,03 pour 2583, « monopoly » +2,60 pour 1281, « 06 » +3,22 pour 2280 (les dates de parution des magazines).
- Sur SHAP : un explainer a été préparé, mais le calcul sur 500 exemples a échoué faute de mémoire (763 Mio). Nous lisons donc directement les coefficients. Ce n'est pas une valeur SHAP, c'est la décomposition exacte du score du modèle linéaire.
Transition : voyons cette lecture sur une prédiction précise.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HaoYue Yuan. Durée : 1:15.
Message : on peut expliquer une décision précise, y compris une erreur.
À dire :
- Exemple réel de la validation, repris du notebook 3 : un livre (catégorie 10) prédit comme magazine (2280).
- Après prétraitement, il ne reste que sept tokens. Les contributions vers 2280 viennent de « 1997 », « gen », « revu » et « justic » ; « no » s'y oppose légèrement.
- Le score de 2280 est faiblement positif (+0,131), celui de la vraie catégorie 10 est à −1,460 : le titre ressemble vraiment à un numéro de revue.
- Ce type d'explication est disponible dans l'application pour chaque saisie.
Transition : Loyck va montrer où ces erreurs se concentrent.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Loyck Bibissi. Durée : 1:15.
Message : les erreurs se concentrent sur des catégories proches par leur vocabulaire.
À dire :
- 23 catégories dépassent 0,70 ; quatre restent en dessous : livres d'occasion (10), jeux de société (1281), jeux de rôle et figurines (1180), jouets (1280).
- Les confusions principales relient livres, bandes dessinées et magazines d'un côté, jouets et jeux de société de l'autre.
- Ce sont des frontières que même un humain trouve floues sur un titre court.
Transition : voyons ce que l'image apporte sur ces cas difficiles.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Loyck Bibissi. Durée : 1:00.
Message : l'image apporte un signal réel sur certaines catégories, mais la fusion actuelle ne l'exploite pas bien.
À dire :
- La fusion progresse nettement sur les livres d'occasion (10) et les livres neufs (2705) : la couverture aide.
- Elle recule sur les jeux de société, les jouets et les figurines, où les visuels se ressemblent.
- Bilan sur la validation : la fusion corrige 1 157 erreurs du modèle texte, mais en commet 3 203 que le texte évite.
- 1 333 produits restent mal classés par les trois modèles : cas ambigus ou étiquettes discutables.
- Réserve de protocole : la fusion a utilisé un cache de caractéristiques image produit lors d'une première exécution du ResNet50.
Transition : passons à la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Loyck Bibissi. Durée : 0:15 sur la slide, puis 4:00 de démonstration.
Message : l'application rend le modèle utilisable par un opérateur catalogue.
À dire :
- Ouvrir l'application déjà lancée, page Prédiction en direct.
- Kit piscine : 2583, montrer le top 5 et l'onglet Mots décisifs.
- Saisir le titre Monopoly : 1281, jeux de société.
- Titre ambigu « La Promenade Au Parc » : vrai code 10, prédit 2705 ; écart faible entre les scores.
- Saisir « Coque iPhone 12 silicone transparente » : le modèle choisit 50 avec un score négatif ; il n'a pas d'option de rejet.
- Finir sur Analyse du modèle. En cas de problème, utiliser les captures en annexe.
Transition : après la démonstration, Khoty reprend pour les limites.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Khoty WOLIE. Durée : 1:00.
Message : nous connaissons les limites du système et savons comment le faire progresser.
À dire :
- Le modèle classe toujours : il faudrait un seuil pour envoyer les cas douteux à un humain.
- Les catégories proches restent difficiles ; l'image est une piste ciblée pour les livres.
- La fusion a été testée dans sa forme la plus simple ; normaliser les modalités est la priorité.
- Nos scores sont des scores de validation ; le test officiel n'a pas d'étiquettes.
Transition : pour conclure.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Khoty WOLIE. Durée : 0:45.
Message : trois enseignements clairs, puis ouverture aux questions.
À dire :
- Rappeler les trois points sans ajouter de chiffre nouveau.
- Remercier le jury et le mentor, Kylian Santos.
- Pour les questions, les annexes contiennent la table de référence des résultats et les hyperparamètres.
Transition : questions du jury.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Annexes pour la séance de questions. Ne pas les présenter pendant les 20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de référence : toutes les valeurs proviennent des notebooks, réexécutés ou conservés dans notebooks_2, sauf les repères Rakuten. Les images restent en 224 × 224 dans toutes les exécutions.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écarts seront corrigés lors de l'harmonisation des rapports. Ordre du chevauchement : tous corrects, fusion corrige le texte, texte corrige la fusion, tous faux.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Hyperparamètres relevés dans les notebooks 02 et 03 et dans le modèle sauvegardé.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10 et 11 du notebook 02 réexécuté. SBERT + MLP progresse jusqu'à 0,7542 ; ResNet50 atteint 0,6799 à l'époque 8 de la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08 du notebook 02 réexécuté, validation de 16 984 produits, F1 0,8316.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du notebook 03 réexécuté. Les rapports citent des valeurs de l'exécution antérieure.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utiliser si l'application ne répond pas pendant la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utiliser si l'application ne répond pas pendant la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Éléments utiles si le jury interroge la reproductibilité ou le déploiement.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Projet Rakuten · Soutenance du 16 octobre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NEX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Projet Rakuten · Soutenance du 16 octobre 2026 · Annexe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-1"/>
          <p:cNvSpPr txBox="1"/>
          <p:nvPr/>
        </p:nvSpPr>
        <p:spPr>
          <a:xfrm>
            <a:off x="731520" y="8686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Projet fil rouge · Formation Ingénieur IA, Liora (ex DataScientest)</a:t>
            </a:r>
            <a:endParaRPr lang="en-US" sz="1500" dirty="0"/>
          </a:p>
        </p:txBody>
      </p:sp>
      <p:sp>
        <p:nvSpPr>
          <p:cNvPr id="3" name="texte-2"/>
          <p:cNvSpPr txBox="1"/>
          <p:nvPr/>
        </p:nvSpPr>
        <p:spPr>
          <a:xfrm>
            <a:off x="731520" y="141732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Classer automatiquement les produits du catalogue Rakuten</a:t>
            </a:r>
            <a:endParaRPr lang="en-US" sz="4000" dirty="0"/>
          </a:p>
        </p:txBody>
      </p:sp>
      <p:sp>
        <p:nvSpPr>
          <p:cNvPr id="4" name="texte-3"/>
          <p:cNvSpPr txBox="1"/>
          <p:nvPr/>
        </p:nvSpPr>
        <p:spPr>
          <a:xfrm>
            <a:off x="731520" y="35204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Challenge Rakuten France : 27 catégories de produits, à partir du texte et des images</a:t>
            </a:r>
            <a:endParaRPr lang="en-US" sz="1900" dirty="0"/>
          </a:p>
        </p:txBody>
      </p:sp>
      <p:sp>
        <p:nvSpPr>
          <p:cNvPr id="5" name="texte-4"/>
          <p:cNvSpPr txBox="1"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Soutenance du 16 octobre 2026</a:t>
            </a:r>
            <a:endParaRPr lang="en-US" sz="1700" dirty="0"/>
          </a:p>
        </p:txBody>
      </p:sp>
      <p:sp>
        <p:nvSpPr>
          <p:cNvPr id="6" name="panneau-5"/>
          <p:cNvSpPr/>
          <p:nvPr/>
        </p:nvSpPr>
        <p:spPr>
          <a:xfrm>
            <a:off x="7818120" y="731520"/>
            <a:ext cx="3840480" cy="5394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e-6"/>
          <p:cNvSpPr txBox="1"/>
          <p:nvPr/>
        </p:nvSpPr>
        <p:spPr>
          <a:xfrm>
            <a:off x="8138160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Équipe projet</a:t>
            </a:r>
            <a:endParaRPr lang="en-US" sz="1600" dirty="0"/>
          </a:p>
        </p:txBody>
      </p:sp>
      <p:pic>
        <p:nvPicPr>
          <p:cNvPr id="8" name="portrait-1" descr="Portrait de Khoty WOL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463040"/>
            <a:ext cx="1051560" cy="1051560"/>
          </a:xfrm>
          <a:prstGeom prst="rect">
            <a:avLst/>
          </a:prstGeom>
        </p:spPr>
      </p:pic>
      <p:sp>
        <p:nvSpPr>
          <p:cNvPr id="9" name="texte-7"/>
          <p:cNvSpPr txBox="1"/>
          <p:nvPr/>
        </p:nvSpPr>
        <p:spPr>
          <a:xfrm>
            <a:off x="9372600" y="1810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Khoty WOLIE</a:t>
            </a:r>
            <a:endParaRPr lang="en-US" sz="1700" dirty="0"/>
          </a:p>
        </p:txBody>
      </p:sp>
      <p:pic>
        <p:nvPicPr>
          <p:cNvPr id="10" name="portrait-2" descr="Portrait de HaoYue Yu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724912"/>
            <a:ext cx="1051560" cy="1051560"/>
          </a:xfrm>
          <a:prstGeom prst="rect">
            <a:avLst/>
          </a:prstGeom>
        </p:spPr>
      </p:pic>
      <p:sp>
        <p:nvSpPr>
          <p:cNvPr id="11" name="texte-8"/>
          <p:cNvSpPr txBox="1"/>
          <p:nvPr/>
        </p:nvSpPr>
        <p:spPr>
          <a:xfrm>
            <a:off x="9372600" y="30723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HaoYue Yuan</a:t>
            </a:r>
            <a:endParaRPr lang="en-US" sz="1700" dirty="0"/>
          </a:p>
        </p:txBody>
      </p:sp>
      <p:pic>
        <p:nvPicPr>
          <p:cNvPr id="12" name="portrait-3" descr="Portrait de Loyck Bibiss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3986784"/>
            <a:ext cx="1051560" cy="1051560"/>
          </a:xfrm>
          <a:prstGeom prst="rect">
            <a:avLst/>
          </a:prstGeom>
        </p:spPr>
      </p:pic>
      <p:sp>
        <p:nvSpPr>
          <p:cNvPr id="13" name="texte-9"/>
          <p:cNvSpPr txBox="1"/>
          <p:nvPr/>
        </p:nvSpPr>
        <p:spPr>
          <a:xfrm>
            <a:off x="9372600" y="43342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Loyck Bibissi</a:t>
            </a:r>
            <a:endParaRPr lang="en-US" sz="1700" dirty="0"/>
          </a:p>
        </p:txBody>
      </p:sp>
      <p:sp>
        <p:nvSpPr>
          <p:cNvPr id="14" name="texte-10"/>
          <p:cNvSpPr txBox="1"/>
          <p:nvPr/>
        </p:nvSpPr>
        <p:spPr>
          <a:xfrm>
            <a:off x="813816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Mentor 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Kylian Santos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Classer chaque produit dès sa mise en ligne</a:t>
            </a:r>
            <a:endParaRPr lang="en-US" sz="3000" dirty="0"/>
          </a:p>
        </p:txBody>
      </p:sp>
      <p:sp>
        <p:nvSpPr>
          <p:cNvPr id="3" name="texte-11"/>
          <p:cNvSpPr txBox="1"/>
          <p:nvPr/>
        </p:nvSpPr>
        <p:spPr>
          <a:xfrm>
            <a:off x="548640" y="1417320"/>
            <a:ext cx="5577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Sur Rakuten France, des vendeurs professionnels et particuliers publient leurs propres fiches produit.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Chaque produit doit recevoir l'un des 27 codes de catégorie du catalogue (prdtypecode).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 classement fiable améliore la recherche, les recommandations et la qualité du catalogue.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classement manuel ou par règles ne suit pas le volume des mises en ligne.</a:t>
            </a:r>
            <a:endParaRPr lang="en-US" sz="1600" dirty="0"/>
          </a:p>
        </p:txBody>
      </p:sp>
      <p:sp>
        <p:nvSpPr>
          <p:cNvPr id="4" name="panneau-12"/>
          <p:cNvSpPr/>
          <p:nvPr/>
        </p:nvSpPr>
        <p:spPr>
          <a:xfrm>
            <a:off x="6675120" y="1417320"/>
            <a:ext cx="49377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e-13"/>
          <p:cNvSpPr txBox="1"/>
          <p:nvPr/>
        </p:nvSpPr>
        <p:spPr>
          <a:xfrm>
            <a:off x="6903720" y="15361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Fiche vendeur</a:t>
            </a:r>
            <a:endParaRPr lang="en-US" sz="1700" dirty="0"/>
          </a:p>
        </p:txBody>
      </p:sp>
      <p:sp>
        <p:nvSpPr>
          <p:cNvPr id="6" name="texte-14"/>
          <p:cNvSpPr txBox="1"/>
          <p:nvPr/>
        </p:nvSpPr>
        <p:spPr>
          <a:xfrm>
            <a:off x="6903720" y="1874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Désignation, description facultative, image</a:t>
            </a:r>
            <a:endParaRPr lang="en-US" sz="1400" dirty="0"/>
          </a:p>
        </p:txBody>
      </p:sp>
      <p:sp>
        <p:nvSpPr>
          <p:cNvPr id="7" name="fleche-15"/>
          <p:cNvSpPr/>
          <p:nvPr/>
        </p:nvSpPr>
        <p:spPr>
          <a:xfrm>
            <a:off x="9025128" y="2331720"/>
            <a:ext cx="237744" cy="274320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panneau-16"/>
          <p:cNvSpPr/>
          <p:nvPr/>
        </p:nvSpPr>
        <p:spPr>
          <a:xfrm>
            <a:off x="6675120" y="2651760"/>
            <a:ext cx="49377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e-17"/>
          <p:cNvSpPr txBox="1"/>
          <p:nvPr/>
        </p:nvSpPr>
        <p:spPr>
          <a:xfrm>
            <a:off x="6903720" y="2770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Modèle de classification</a:t>
            </a:r>
            <a:endParaRPr lang="en-US" sz="1700" dirty="0"/>
          </a:p>
        </p:txBody>
      </p:sp>
      <p:sp>
        <p:nvSpPr>
          <p:cNvPr id="10" name="texte-18"/>
          <p:cNvSpPr txBox="1"/>
          <p:nvPr/>
        </p:nvSpPr>
        <p:spPr>
          <a:xfrm>
            <a:off x="6903720" y="3108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Entraîné sur 84 916 fiches étiquetées</a:t>
            </a:r>
            <a:endParaRPr lang="en-US" sz="1400" dirty="0"/>
          </a:p>
        </p:txBody>
      </p:sp>
      <p:sp>
        <p:nvSpPr>
          <p:cNvPr id="11" name="fleche-19"/>
          <p:cNvSpPr/>
          <p:nvPr/>
        </p:nvSpPr>
        <p:spPr>
          <a:xfrm>
            <a:off x="9025128" y="3566160"/>
            <a:ext cx="237744" cy="274320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panneau-20"/>
          <p:cNvSpPr/>
          <p:nvPr/>
        </p:nvSpPr>
        <p:spPr>
          <a:xfrm>
            <a:off x="6675120" y="3886200"/>
            <a:ext cx="49377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e-21"/>
          <p:cNvSpPr txBox="1"/>
          <p:nvPr/>
        </p:nvSpPr>
        <p:spPr>
          <a:xfrm>
            <a:off x="6903720" y="40050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Code de catégorie</a:t>
            </a:r>
            <a:endParaRPr lang="en-US" sz="1700" dirty="0"/>
          </a:p>
        </p:txBody>
      </p:sp>
      <p:sp>
        <p:nvSpPr>
          <p:cNvPr id="14" name="texte-22"/>
          <p:cNvSpPr txBox="1"/>
          <p:nvPr/>
        </p:nvSpPr>
        <p:spPr>
          <a:xfrm>
            <a:off x="6903720" y="4343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 code parmi 27, par exemple 2583</a:t>
            </a:r>
            <a:endParaRPr lang="en-US" sz="1400" dirty="0"/>
          </a:p>
        </p:txBody>
      </p:sp>
      <p:sp>
        <p:nvSpPr>
          <p:cNvPr id="15" name="texte-23"/>
          <p:cNvSpPr txBox="1"/>
          <p:nvPr/>
        </p:nvSpPr>
        <p:spPr>
          <a:xfrm>
            <a:off x="548640" y="5257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Objectif 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prédire le code à partir du texte et de l'image, comparer plusieurs approches et dépasser le repère texte publié par Rakuten (F1 pondéré 0,8113).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 catalogue volumineux, multilingue et incomplet</a:t>
            </a:r>
            <a:endParaRPr lang="en-US" sz="3000" dirty="0"/>
          </a:p>
        </p:txBody>
      </p:sp>
      <p:sp>
        <p:nvSpPr>
          <p:cNvPr id="3" name="panneau-24"/>
          <p:cNvSpPr/>
          <p:nvPr/>
        </p:nvSpPr>
        <p:spPr>
          <a:xfrm>
            <a:off x="548640" y="1371600"/>
            <a:ext cx="3515258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e-25"/>
          <p:cNvSpPr txBox="1"/>
          <p:nvPr/>
        </p:nvSpPr>
        <p:spPr>
          <a:xfrm>
            <a:off x="822960" y="16002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84 916</a:t>
            </a:r>
            <a:endParaRPr lang="en-US" sz="3800" dirty="0"/>
          </a:p>
        </p:txBody>
      </p:sp>
      <p:sp>
        <p:nvSpPr>
          <p:cNvPr id="5" name="texte-26"/>
          <p:cNvSpPr txBox="1"/>
          <p:nvPr/>
        </p:nvSpPr>
        <p:spPr>
          <a:xfrm>
            <a:off x="822960" y="2313432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produits étiquetés dans le fichier d'entraînement</a:t>
            </a:r>
            <a:endParaRPr lang="en-US" sz="1500" dirty="0"/>
          </a:p>
        </p:txBody>
      </p:sp>
      <p:sp>
        <p:nvSpPr>
          <p:cNvPr id="6" name="panneau-27"/>
          <p:cNvSpPr/>
          <p:nvPr/>
        </p:nvSpPr>
        <p:spPr>
          <a:xfrm>
            <a:off x="4338218" y="1371600"/>
            <a:ext cx="3515258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e-28"/>
          <p:cNvSpPr txBox="1"/>
          <p:nvPr/>
        </p:nvSpPr>
        <p:spPr>
          <a:xfrm>
            <a:off x="4612538" y="16002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13 812</a:t>
            </a:r>
            <a:endParaRPr lang="en-US" sz="3800" dirty="0"/>
          </a:p>
        </p:txBody>
      </p:sp>
      <p:sp>
        <p:nvSpPr>
          <p:cNvPr id="8" name="texte-29"/>
          <p:cNvSpPr txBox="1"/>
          <p:nvPr/>
        </p:nvSpPr>
        <p:spPr>
          <a:xfrm>
            <a:off x="4612538" y="2313432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produits de test, sans étiquette</a:t>
            </a:r>
            <a:endParaRPr lang="en-US" sz="1500" dirty="0"/>
          </a:p>
        </p:txBody>
      </p:sp>
      <p:sp>
        <p:nvSpPr>
          <p:cNvPr id="9" name="panneau-30"/>
          <p:cNvSpPr/>
          <p:nvPr/>
        </p:nvSpPr>
        <p:spPr>
          <a:xfrm>
            <a:off x="8127797" y="1371600"/>
            <a:ext cx="3515258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e-31"/>
          <p:cNvSpPr txBox="1"/>
          <p:nvPr/>
        </p:nvSpPr>
        <p:spPr>
          <a:xfrm>
            <a:off x="8402117" y="16002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27</a:t>
            </a:r>
            <a:endParaRPr lang="en-US" sz="3800" dirty="0"/>
          </a:p>
        </p:txBody>
      </p:sp>
      <p:sp>
        <p:nvSpPr>
          <p:cNvPr id="11" name="texte-32"/>
          <p:cNvSpPr txBox="1"/>
          <p:nvPr/>
        </p:nvSpPr>
        <p:spPr>
          <a:xfrm>
            <a:off x="8402117" y="2313432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catégories de produits (codes prdtypecode)</a:t>
            </a:r>
            <a:endParaRPr lang="en-US" sz="1500" dirty="0"/>
          </a:p>
        </p:txBody>
      </p:sp>
      <p:sp>
        <p:nvSpPr>
          <p:cNvPr id="12" name="panneau-33"/>
          <p:cNvSpPr/>
          <p:nvPr/>
        </p:nvSpPr>
        <p:spPr>
          <a:xfrm>
            <a:off x="548640" y="3337560"/>
            <a:ext cx="3515258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e-34"/>
          <p:cNvSpPr txBox="1"/>
          <p:nvPr/>
        </p:nvSpPr>
        <p:spPr>
          <a:xfrm>
            <a:off x="822960" y="35661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35,1 %</a:t>
            </a:r>
            <a:endParaRPr lang="en-US" sz="3800" dirty="0"/>
          </a:p>
        </p:txBody>
      </p:sp>
      <p:sp>
        <p:nvSpPr>
          <p:cNvPr id="14" name="texte-35"/>
          <p:cNvSpPr txBox="1"/>
          <p:nvPr/>
        </p:nvSpPr>
        <p:spPr>
          <a:xfrm>
            <a:off x="822960" y="4279392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descriptions absentes (29 800 produits)</a:t>
            </a:r>
            <a:endParaRPr lang="en-US" sz="1500" dirty="0"/>
          </a:p>
        </p:txBody>
      </p:sp>
      <p:sp>
        <p:nvSpPr>
          <p:cNvPr id="15" name="panneau-36"/>
          <p:cNvSpPr/>
          <p:nvPr/>
        </p:nvSpPr>
        <p:spPr>
          <a:xfrm>
            <a:off x="4338218" y="3337560"/>
            <a:ext cx="3515258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e-37"/>
          <p:cNvSpPr txBox="1"/>
          <p:nvPr/>
        </p:nvSpPr>
        <p:spPr>
          <a:xfrm>
            <a:off x="4612538" y="35661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60,9 %</a:t>
            </a:r>
            <a:endParaRPr lang="en-US" sz="3800" dirty="0"/>
          </a:p>
        </p:txBody>
      </p:sp>
      <p:sp>
        <p:nvSpPr>
          <p:cNvPr id="17" name="texte-38"/>
          <p:cNvSpPr txBox="1"/>
          <p:nvPr/>
        </p:nvSpPr>
        <p:spPr>
          <a:xfrm>
            <a:off x="4612538" y="4279392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désignations en français, 23,0 % en anglais</a:t>
            </a:r>
            <a:endParaRPr lang="en-US" sz="1500" dirty="0"/>
          </a:p>
        </p:txBody>
      </p:sp>
      <p:sp>
        <p:nvSpPr>
          <p:cNvPr id="18" name="panneau-39"/>
          <p:cNvSpPr/>
          <p:nvPr/>
        </p:nvSpPr>
        <p:spPr>
          <a:xfrm>
            <a:off x="8127797" y="3337560"/>
            <a:ext cx="3515258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e-40"/>
          <p:cNvSpPr txBox="1"/>
          <p:nvPr/>
        </p:nvSpPr>
        <p:spPr>
          <a:xfrm>
            <a:off x="8402117" y="35661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100 %</a:t>
            </a:r>
            <a:endParaRPr lang="en-US" sz="3800" dirty="0"/>
          </a:p>
        </p:txBody>
      </p:sp>
      <p:sp>
        <p:nvSpPr>
          <p:cNvPr id="20" name="texte-41"/>
          <p:cNvSpPr txBox="1"/>
          <p:nvPr/>
        </p:nvSpPr>
        <p:spPr>
          <a:xfrm>
            <a:off x="8402117" y="4279392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images présentes, toutes en 500 × 500 px RGB</a:t>
            </a:r>
            <a:endParaRPr lang="en-US" sz="1500" dirty="0"/>
          </a:p>
        </p:txBody>
      </p:sp>
      <p:sp>
        <p:nvSpPr>
          <p:cNvPr id="21" name="texte-42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Conséquence : la désignation est la seule information textuelle toujours disponible ; l'image l'est aussi, mais son contenu varie selon les vendeurs.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Des catégories très déséquilibrées</a:t>
            </a:r>
            <a:endParaRPr lang="en-US" sz="3000" dirty="0"/>
          </a:p>
        </p:txBody>
      </p:sp>
      <p:graphicFrame>
        <p:nvGraphicFramePr>
          <p:cNvPr id="3" name="graphique-repartition-classes" descr=""/>
          <p:cNvGraphicFramePr/>
          <p:nvPr/>
        </p:nvGraphicFramePr>
        <p:xfrm>
          <a:off x="548640" y="1325880"/>
          <a:ext cx="78638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e-43"/>
          <p:cNvSpPr txBox="1"/>
          <p:nvPr/>
        </p:nvSpPr>
        <p:spPr>
          <a:xfrm>
            <a:off x="8778240" y="1463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13,4</a:t>
            </a:r>
            <a:endParaRPr lang="en-US" sz="5400" dirty="0"/>
          </a:p>
        </p:txBody>
      </p:sp>
      <p:sp>
        <p:nvSpPr>
          <p:cNvPr id="5" name="texte-44"/>
          <p:cNvSpPr txBox="1"/>
          <p:nvPr/>
        </p:nvSpPr>
        <p:spPr>
          <a:xfrm>
            <a:off x="8778240" y="2331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rapport entre la catégorie la plus fréquente et la plus rare</a:t>
            </a:r>
            <a:endParaRPr lang="en-US" sz="1500" dirty="0"/>
          </a:p>
        </p:txBody>
      </p:sp>
      <p:sp>
        <p:nvSpPr>
          <p:cNvPr id="6" name="texte-45"/>
          <p:cNvSpPr txBox="1"/>
          <p:nvPr/>
        </p:nvSpPr>
        <p:spPr>
          <a:xfrm>
            <a:off x="8778240" y="31546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2583 · Piscine et accessoires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10 209 produits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1180 · Jeux de rôle et figurines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764 produits</a:t>
            </a:r>
            <a:endParaRPr lang="en-US" sz="1500" dirty="0"/>
          </a:p>
        </p:txBody>
      </p:sp>
      <p:sp>
        <p:nvSpPr>
          <p:cNvPr id="7" name="texte-46"/>
          <p:cNvSpPr txBox="1"/>
          <p:nvPr/>
        </p:nvSpPr>
        <p:spPr>
          <a:xfrm>
            <a:off x="8778240" y="48006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Choix retenus : F1 pondéré, métrique officielle, et partition stratifiée par catégorie.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même prétraitement à l'entraînement et dans l'application</a:t>
            </a:r>
            <a:endParaRPr lang="en-US" sz="3000" dirty="0"/>
          </a:p>
        </p:txBody>
      </p:sp>
      <p:sp>
        <p:nvSpPr>
          <p:cNvPr id="3" name="panneau-47"/>
          <p:cNvSpPr/>
          <p:nvPr/>
        </p:nvSpPr>
        <p:spPr>
          <a:xfrm>
            <a:off x="548640" y="1371600"/>
            <a:ext cx="2072579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e-48"/>
          <p:cNvSpPr txBox="1"/>
          <p:nvPr/>
        </p:nvSpPr>
        <p:spPr>
          <a:xfrm>
            <a:off x="731520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e-49"/>
          <p:cNvSpPr txBox="1"/>
          <p:nvPr/>
        </p:nvSpPr>
        <p:spPr>
          <a:xfrm>
            <a:off x="731520" y="1938528"/>
            <a:ext cx="1706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Nettoyage</a:t>
            </a:r>
            <a:endParaRPr lang="en-US" sz="1600" dirty="0"/>
          </a:p>
        </p:txBody>
      </p:sp>
      <p:sp>
        <p:nvSpPr>
          <p:cNvPr id="6" name="texte-50"/>
          <p:cNvSpPr txBox="1"/>
          <p:nvPr/>
        </p:nvSpPr>
        <p:spPr>
          <a:xfrm>
            <a:off x="731520" y="233172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minuscules, balises HTML, URL et caractères spéciaux</a:t>
            </a:r>
            <a:endParaRPr lang="en-US" sz="1300" dirty="0"/>
          </a:p>
        </p:txBody>
      </p:sp>
      <p:sp>
        <p:nvSpPr>
          <p:cNvPr id="7" name="panneau-51"/>
          <p:cNvSpPr/>
          <p:nvPr/>
        </p:nvSpPr>
        <p:spPr>
          <a:xfrm>
            <a:off x="2804099" y="1371600"/>
            <a:ext cx="2072579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e-52"/>
          <p:cNvSpPr txBox="1"/>
          <p:nvPr/>
        </p:nvSpPr>
        <p:spPr>
          <a:xfrm>
            <a:off x="2986979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e-53"/>
          <p:cNvSpPr txBox="1"/>
          <p:nvPr/>
        </p:nvSpPr>
        <p:spPr>
          <a:xfrm>
            <a:off x="2986979" y="1938528"/>
            <a:ext cx="1706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Mots vides</a:t>
            </a:r>
            <a:endParaRPr lang="en-US" sz="1600" dirty="0"/>
          </a:p>
        </p:txBody>
      </p:sp>
      <p:sp>
        <p:nvSpPr>
          <p:cNvPr id="10" name="texte-54"/>
          <p:cNvSpPr txBox="1"/>
          <p:nvPr/>
        </p:nvSpPr>
        <p:spPr>
          <a:xfrm>
            <a:off x="2986979" y="233172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stopwords français NLTK et tokens d'une lettre</a:t>
            </a:r>
            <a:endParaRPr lang="en-US" sz="1300" dirty="0"/>
          </a:p>
        </p:txBody>
      </p:sp>
      <p:sp>
        <p:nvSpPr>
          <p:cNvPr id="11" name="panneau-55"/>
          <p:cNvSpPr/>
          <p:nvPr/>
        </p:nvSpPr>
        <p:spPr>
          <a:xfrm>
            <a:off x="5059558" y="1371600"/>
            <a:ext cx="2072579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e-56"/>
          <p:cNvSpPr txBox="1"/>
          <p:nvPr/>
        </p:nvSpPr>
        <p:spPr>
          <a:xfrm>
            <a:off x="5242438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e-57"/>
          <p:cNvSpPr txBox="1"/>
          <p:nvPr/>
        </p:nvSpPr>
        <p:spPr>
          <a:xfrm>
            <a:off x="5242438" y="1938528"/>
            <a:ext cx="1706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Racinisation</a:t>
            </a:r>
            <a:endParaRPr lang="en-US" sz="1600" dirty="0"/>
          </a:p>
        </p:txBody>
      </p:sp>
      <p:sp>
        <p:nvSpPr>
          <p:cNvPr id="14" name="texte-58"/>
          <p:cNvSpPr txBox="1"/>
          <p:nvPr/>
        </p:nvSpPr>
        <p:spPr>
          <a:xfrm>
            <a:off x="5242438" y="233172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stemming Snowball français</a:t>
            </a:r>
            <a:endParaRPr lang="en-US" sz="1300" dirty="0"/>
          </a:p>
        </p:txBody>
      </p:sp>
      <p:sp>
        <p:nvSpPr>
          <p:cNvPr id="15" name="panneau-59"/>
          <p:cNvSpPr/>
          <p:nvPr/>
        </p:nvSpPr>
        <p:spPr>
          <a:xfrm>
            <a:off x="7315017" y="1371600"/>
            <a:ext cx="2072579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e-60"/>
          <p:cNvSpPr txBox="1"/>
          <p:nvPr/>
        </p:nvSpPr>
        <p:spPr>
          <a:xfrm>
            <a:off x="7497897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texte-61"/>
          <p:cNvSpPr txBox="1"/>
          <p:nvPr/>
        </p:nvSpPr>
        <p:spPr>
          <a:xfrm>
            <a:off x="7497897" y="1938528"/>
            <a:ext cx="1706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Mots fréquents</a:t>
            </a:r>
            <a:endParaRPr lang="en-US" sz="1600" dirty="0"/>
          </a:p>
        </p:txBody>
      </p:sp>
      <p:sp>
        <p:nvSpPr>
          <p:cNvPr id="18" name="texte-62"/>
          <p:cNvSpPr txBox="1"/>
          <p:nvPr/>
        </p:nvSpPr>
        <p:spPr>
          <a:xfrm>
            <a:off x="7497897" y="233172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27 tokens non discriminants retirés après l'exploration</a:t>
            </a:r>
            <a:endParaRPr lang="en-US" sz="1300" dirty="0"/>
          </a:p>
        </p:txBody>
      </p:sp>
      <p:sp>
        <p:nvSpPr>
          <p:cNvPr id="19" name="panneau-63"/>
          <p:cNvSpPr/>
          <p:nvPr/>
        </p:nvSpPr>
        <p:spPr>
          <a:xfrm>
            <a:off x="9570476" y="1371600"/>
            <a:ext cx="2072579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e-64"/>
          <p:cNvSpPr txBox="1"/>
          <p:nvPr/>
        </p:nvSpPr>
        <p:spPr>
          <a:xfrm>
            <a:off x="9753356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5</a:t>
            </a:r>
            <a:endParaRPr lang="en-US" sz="2200" dirty="0"/>
          </a:p>
        </p:txBody>
      </p:sp>
      <p:sp>
        <p:nvSpPr>
          <p:cNvPr id="21" name="texte-65"/>
          <p:cNvSpPr txBox="1"/>
          <p:nvPr/>
        </p:nvSpPr>
        <p:spPr>
          <a:xfrm>
            <a:off x="9753356" y="1938528"/>
            <a:ext cx="1706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Assemblage</a:t>
            </a:r>
            <a:endParaRPr lang="en-US" sz="1600" dirty="0"/>
          </a:p>
        </p:txBody>
      </p:sp>
      <p:sp>
        <p:nvSpPr>
          <p:cNvPr id="22" name="texte-66"/>
          <p:cNvSpPr txBox="1"/>
          <p:nvPr/>
        </p:nvSpPr>
        <p:spPr>
          <a:xfrm>
            <a:off x="9753356" y="233172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désignation + description, repli sur la désignation</a:t>
            </a:r>
            <a:endParaRPr lang="en-US" sz="1300" dirty="0"/>
          </a:p>
        </p:txBody>
      </p:sp>
      <p:sp>
        <p:nvSpPr>
          <p:cNvPr id="23" name="texte-67"/>
          <p:cNvSpPr txBox="1"/>
          <p:nvPr/>
        </p:nvSpPr>
        <p:spPr>
          <a:xfrm>
            <a:off x="548640" y="3474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Exemple réel, calculé avec la fonction du projet</a:t>
            </a:r>
            <a:endParaRPr lang="en-US" sz="1600" dirty="0"/>
          </a:p>
        </p:txBody>
      </p:sp>
      <p:sp>
        <p:nvSpPr>
          <p:cNvPr id="24" name="cadre-exemple"/>
          <p:cNvSpPr/>
          <p:nvPr/>
        </p:nvSpPr>
        <p:spPr>
          <a:xfrm>
            <a:off x="548640" y="3931920"/>
            <a:ext cx="11094415" cy="1600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e-68"/>
          <p:cNvSpPr txBox="1"/>
          <p:nvPr/>
        </p:nvSpPr>
        <p:spPr>
          <a:xfrm>
            <a:off x="822960" y="41148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Entrée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Piscine tubulaire ronde 366 x 76 cm  |  &lt;p&gt;Livrée avec pompe de filtration. Plus d infos : www.exemple.fr&lt;/p&gt;</a:t>
            </a:r>
            <a:endParaRPr lang="en-US" sz="1500" dirty="0"/>
          </a:p>
        </p:txBody>
      </p:sp>
      <p:sp>
        <p:nvSpPr>
          <p:cNvPr id="26" name="texte-69"/>
          <p:cNvSpPr txBox="1"/>
          <p:nvPr/>
        </p:nvSpPr>
        <p:spPr>
          <a:xfrm>
            <a:off x="822960" y="48006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Sortie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piscin tubulair rond 366 76 livr pomp filtrat infos</a:t>
            </a:r>
            <a:endParaRPr lang="en-US" sz="1500" dirty="0"/>
          </a:p>
        </p:txBody>
      </p:sp>
      <p:sp>
        <p:nvSpPr>
          <p:cNvPr id="27" name="texte-70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Version actuelle des notebooks et de l'application. Les rapports 1 et 2 décrivent une version antérieure, sans stopwords ni stemming.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 protocole d'évaluation commun à tous les modèles</a:t>
            </a:r>
            <a:endParaRPr lang="en-US" sz="3000" dirty="0"/>
          </a:p>
        </p:txBody>
      </p:sp>
      <p:sp>
        <p:nvSpPr>
          <p:cNvPr id="3" name="panneau-71"/>
          <p:cNvSpPr/>
          <p:nvPr/>
        </p:nvSpPr>
        <p:spPr>
          <a:xfrm>
            <a:off x="548640" y="1417320"/>
            <a:ext cx="301752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e-72"/>
          <p:cNvSpPr txBox="1"/>
          <p:nvPr/>
        </p:nvSpPr>
        <p:spPr>
          <a:xfrm>
            <a:off x="77724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Fichier d'entraînement</a:t>
            </a:r>
            <a:endParaRPr lang="en-US" sz="1500" dirty="0"/>
          </a:p>
        </p:txBody>
      </p:sp>
      <p:sp>
        <p:nvSpPr>
          <p:cNvPr id="5" name="texte-73"/>
          <p:cNvSpPr txBox="1"/>
          <p:nvPr/>
        </p:nvSpPr>
        <p:spPr>
          <a:xfrm>
            <a:off x="777240" y="1901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84 916 produits</a:t>
            </a:r>
            <a:endParaRPr lang="en-US" sz="2200" dirty="0"/>
          </a:p>
        </p:txBody>
      </p:sp>
      <p:sp>
        <p:nvSpPr>
          <p:cNvPr id="6" name="fleche-split"/>
          <p:cNvSpPr/>
          <p:nvPr/>
        </p:nvSpPr>
        <p:spPr>
          <a:xfrm>
            <a:off x="3703320" y="1828800"/>
            <a:ext cx="411480" cy="32004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panneau-74"/>
          <p:cNvSpPr/>
          <p:nvPr/>
        </p:nvSpPr>
        <p:spPr>
          <a:xfrm>
            <a:off x="4297680" y="1417320"/>
            <a:ext cx="246888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e-75"/>
          <p:cNvSpPr txBox="1"/>
          <p:nvPr/>
        </p:nvSpPr>
        <p:spPr>
          <a:xfrm>
            <a:off x="452628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Entraînement · 80 %</a:t>
            </a:r>
            <a:endParaRPr lang="en-US" sz="1500" dirty="0"/>
          </a:p>
        </p:txBody>
      </p:sp>
      <p:sp>
        <p:nvSpPr>
          <p:cNvPr id="9" name="texte-76"/>
          <p:cNvSpPr txBox="1"/>
          <p:nvPr/>
        </p:nvSpPr>
        <p:spPr>
          <a:xfrm>
            <a:off x="4526280" y="19019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67 932</a:t>
            </a:r>
            <a:endParaRPr lang="en-US" sz="2200" dirty="0"/>
          </a:p>
        </p:txBody>
      </p:sp>
      <p:sp>
        <p:nvSpPr>
          <p:cNvPr id="10" name="panneau-77"/>
          <p:cNvSpPr/>
          <p:nvPr/>
        </p:nvSpPr>
        <p:spPr>
          <a:xfrm>
            <a:off x="6949440" y="1417320"/>
            <a:ext cx="246888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e-78"/>
          <p:cNvSpPr txBox="1"/>
          <p:nvPr/>
        </p:nvSpPr>
        <p:spPr>
          <a:xfrm>
            <a:off x="717804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Validation · 20 %</a:t>
            </a:r>
            <a:endParaRPr lang="en-US" sz="1500" dirty="0"/>
          </a:p>
        </p:txBody>
      </p:sp>
      <p:sp>
        <p:nvSpPr>
          <p:cNvPr id="12" name="texte-79"/>
          <p:cNvSpPr txBox="1"/>
          <p:nvPr/>
        </p:nvSpPr>
        <p:spPr>
          <a:xfrm>
            <a:off x="7178040" y="19019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16 984</a:t>
            </a:r>
            <a:endParaRPr lang="en-US" sz="2200" dirty="0"/>
          </a:p>
        </p:txBody>
      </p:sp>
      <p:sp>
        <p:nvSpPr>
          <p:cNvPr id="13" name="cadre-test"/>
          <p:cNvSpPr/>
          <p:nvPr/>
        </p:nvSpPr>
        <p:spPr>
          <a:xfrm>
            <a:off x="9601200" y="1417320"/>
            <a:ext cx="2039112" cy="1143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14" name="texte-80"/>
          <p:cNvSpPr txBox="1"/>
          <p:nvPr/>
        </p:nvSpPr>
        <p:spPr>
          <a:xfrm>
            <a:off x="978408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Test</a:t>
            </a:r>
            <a:endParaRPr lang="en-US" sz="1500" dirty="0"/>
          </a:p>
        </p:txBody>
      </p:sp>
      <p:sp>
        <p:nvSpPr>
          <p:cNvPr id="15" name="texte-81"/>
          <p:cNvSpPr txBox="1"/>
          <p:nvPr/>
        </p:nvSpPr>
        <p:spPr>
          <a:xfrm>
            <a:off x="9784080" y="19019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13 812</a:t>
            </a:r>
            <a:endParaRPr lang="en-US" sz="2200" dirty="0"/>
          </a:p>
        </p:txBody>
      </p:sp>
      <p:sp>
        <p:nvSpPr>
          <p:cNvPr id="16" name="texte-82"/>
          <p:cNvSpPr txBox="1"/>
          <p:nvPr/>
        </p:nvSpPr>
        <p:spPr>
          <a:xfrm>
            <a:off x="548640" y="3017520"/>
            <a:ext cx="110944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Partition stratifiée par catégorie (random_state = 42), identique pour tous les modèles.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Tous les scores du projet sont des F1 pondérés calculés sur les 16 984 produits de validation.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 jeu de test n'a pas d'étiquette : 13 812 prédictions sont exportées, sans score calculé.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Les repères Rakuten (0,8113 texte, 0,5534 image) sont publiés par le challenge sur un autre protocole : la comparaison reste indicative.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Quatre approches, de la plus simple à la plus complexe</a:t>
            </a:r>
            <a:endParaRPr lang="en-US" sz="3000" dirty="0"/>
          </a:p>
        </p:txBody>
      </p:sp>
      <p:sp>
        <p:nvSpPr>
          <p:cNvPr id="3" name="panneau-83"/>
          <p:cNvSpPr/>
          <p:nvPr/>
        </p:nvSpPr>
        <p:spPr>
          <a:xfrm>
            <a:off x="548640" y="1371600"/>
            <a:ext cx="2567864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e-84"/>
          <p:cNvSpPr txBox="1"/>
          <p:nvPr/>
        </p:nvSpPr>
        <p:spPr>
          <a:xfrm>
            <a:off x="77724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e-85"/>
          <p:cNvSpPr txBox="1"/>
          <p:nvPr/>
        </p:nvSpPr>
        <p:spPr>
          <a:xfrm>
            <a:off x="777240" y="205740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TF-IDF + LinearSVC</a:t>
            </a:r>
            <a:endParaRPr lang="en-US" sz="1900" dirty="0"/>
          </a:p>
        </p:txBody>
      </p:sp>
      <p:sp>
        <p:nvSpPr>
          <p:cNvPr id="6" name="texte-86"/>
          <p:cNvSpPr txBox="1"/>
          <p:nvPr/>
        </p:nvSpPr>
        <p:spPr>
          <a:xfrm>
            <a:off x="777240" y="274320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Texte</a:t>
            </a:r>
            <a:endParaRPr lang="en-US" sz="1500" dirty="0"/>
          </a:p>
        </p:txBody>
      </p:sp>
      <p:sp>
        <p:nvSpPr>
          <p:cNvPr id="7" name="texte-87"/>
          <p:cNvSpPr txBox="1"/>
          <p:nvPr/>
        </p:nvSpPr>
        <p:spPr>
          <a:xfrm>
            <a:off x="777240" y="3200400"/>
            <a:ext cx="2110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Unigrammes et bigrammes, 200 000 termes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Classifieur linéaire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Entraînement en 14,5 s sur CPU</a:t>
            </a:r>
            <a:endParaRPr lang="en-US" sz="1600" dirty="0"/>
          </a:p>
        </p:txBody>
      </p:sp>
      <p:sp>
        <p:nvSpPr>
          <p:cNvPr id="8" name="panneau-88"/>
          <p:cNvSpPr/>
          <p:nvPr/>
        </p:nvSpPr>
        <p:spPr>
          <a:xfrm>
            <a:off x="3390824" y="1371600"/>
            <a:ext cx="2567864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e-89"/>
          <p:cNvSpPr txBox="1"/>
          <p:nvPr/>
        </p:nvSpPr>
        <p:spPr>
          <a:xfrm>
            <a:off x="3619424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e-90"/>
          <p:cNvSpPr txBox="1"/>
          <p:nvPr/>
        </p:nvSpPr>
        <p:spPr>
          <a:xfrm>
            <a:off x="3619424" y="205740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SBERT + MLP</a:t>
            </a:r>
            <a:endParaRPr lang="en-US" sz="1900" dirty="0"/>
          </a:p>
        </p:txBody>
      </p:sp>
      <p:sp>
        <p:nvSpPr>
          <p:cNvPr id="11" name="texte-91"/>
          <p:cNvSpPr txBox="1"/>
          <p:nvPr/>
        </p:nvSpPr>
        <p:spPr>
          <a:xfrm>
            <a:off x="3619424" y="274320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Texte</a:t>
            </a:r>
            <a:endParaRPr lang="en-US" sz="1500" dirty="0"/>
          </a:p>
        </p:txBody>
      </p:sp>
      <p:sp>
        <p:nvSpPr>
          <p:cNvPr id="12" name="texte-92"/>
          <p:cNvSpPr txBox="1"/>
          <p:nvPr/>
        </p:nvSpPr>
        <p:spPr>
          <a:xfrm>
            <a:off x="3619424" y="3200400"/>
            <a:ext cx="2110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Embeddings multilingues de 384 dimensions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Réseau dense 512 puis 256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30 époques</a:t>
            </a:r>
            <a:endParaRPr lang="en-US" sz="1600" dirty="0"/>
          </a:p>
        </p:txBody>
      </p:sp>
      <p:sp>
        <p:nvSpPr>
          <p:cNvPr id="13" name="panneau-93"/>
          <p:cNvSpPr/>
          <p:nvPr/>
        </p:nvSpPr>
        <p:spPr>
          <a:xfrm>
            <a:off x="6233008" y="1371600"/>
            <a:ext cx="2567864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e-94"/>
          <p:cNvSpPr txBox="1"/>
          <p:nvPr/>
        </p:nvSpPr>
        <p:spPr>
          <a:xfrm>
            <a:off x="6461608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e-95"/>
          <p:cNvSpPr txBox="1"/>
          <p:nvPr/>
        </p:nvSpPr>
        <p:spPr>
          <a:xfrm>
            <a:off x="6461608" y="205740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ResNet50</a:t>
            </a:r>
            <a:endParaRPr lang="en-US" sz="1900" dirty="0"/>
          </a:p>
        </p:txBody>
      </p:sp>
      <p:sp>
        <p:nvSpPr>
          <p:cNvPr id="16" name="texte-96"/>
          <p:cNvSpPr txBox="1"/>
          <p:nvPr/>
        </p:nvSpPr>
        <p:spPr>
          <a:xfrm>
            <a:off x="6461608" y="274320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Image</a:t>
            </a:r>
            <a:endParaRPr lang="en-US" sz="1500" dirty="0"/>
          </a:p>
        </p:txBody>
      </p:sp>
      <p:sp>
        <p:nvSpPr>
          <p:cNvPr id="17" name="texte-97"/>
          <p:cNvSpPr txBox="1"/>
          <p:nvPr/>
        </p:nvSpPr>
        <p:spPr>
          <a:xfrm>
            <a:off x="6461608" y="3200400"/>
            <a:ext cx="2110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Pré-entraîné sur ImageNet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Phase 1 : couches gelées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Phase 2 : bloc layer4 réentraîné</a:t>
            </a:r>
            <a:endParaRPr lang="en-US" sz="1600" dirty="0"/>
          </a:p>
        </p:txBody>
      </p:sp>
      <p:sp>
        <p:nvSpPr>
          <p:cNvPr id="18" name="panneau-98"/>
          <p:cNvSpPr/>
          <p:nvPr/>
        </p:nvSpPr>
        <p:spPr>
          <a:xfrm>
            <a:off x="9075191" y="1371600"/>
            <a:ext cx="2567864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e-99"/>
          <p:cNvSpPr txBox="1"/>
          <p:nvPr/>
        </p:nvSpPr>
        <p:spPr>
          <a:xfrm>
            <a:off x="9303791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texte-100"/>
          <p:cNvSpPr txBox="1"/>
          <p:nvPr/>
        </p:nvSpPr>
        <p:spPr>
          <a:xfrm>
            <a:off x="9303791" y="205740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Fusion</a:t>
            </a:r>
            <a:endParaRPr lang="en-US" sz="1900" dirty="0"/>
          </a:p>
        </p:txBody>
      </p:sp>
      <p:sp>
        <p:nvSpPr>
          <p:cNvPr id="21" name="texte-101"/>
          <p:cNvSpPr txBox="1"/>
          <p:nvPr/>
        </p:nvSpPr>
        <p:spPr>
          <a:xfrm>
            <a:off x="9303791" y="274320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Texte + image</a:t>
            </a:r>
            <a:endParaRPr lang="en-US" sz="1500" dirty="0"/>
          </a:p>
        </p:txBody>
      </p:sp>
      <p:sp>
        <p:nvSpPr>
          <p:cNvPr id="22" name="texte-102"/>
          <p:cNvSpPr txBox="1"/>
          <p:nvPr/>
        </p:nvSpPr>
        <p:spPr>
          <a:xfrm>
            <a:off x="9303791" y="3200400"/>
            <a:ext cx="2110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Concaténation SBERT (384) et ResNet50 (2 048)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Réseau dense de 3,2 millions de paramètres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40 époques</a:t>
            </a:r>
            <a:endParaRPr lang="en-US" sz="1600" dirty="0"/>
          </a:p>
        </p:txBody>
      </p:sp>
      <p:sp>
        <p:nvSpPr>
          <p:cNvPr id="23" name="texte-103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Chaque brique est évaluée seule avant d'être combinée.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modèle texte TF-IDF + LinearSVC obtient le meilleur score</a:t>
            </a:r>
            <a:endParaRPr lang="en-US" sz="3000" dirty="0"/>
          </a:p>
        </p:txBody>
      </p:sp>
      <p:graphicFrame>
        <p:nvGraphicFramePr>
          <p:cNvPr id="3" name="graphique-comparaison-modeles" descr=""/>
          <p:cNvGraphicFramePr/>
          <p:nvPr/>
        </p:nvGraphicFramePr>
        <p:xfrm>
          <a:off x="548640" y="1325880"/>
          <a:ext cx="768096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e-104"/>
          <p:cNvSpPr txBox="1"/>
          <p:nvPr/>
        </p:nvSpPr>
        <p:spPr>
          <a:xfrm>
            <a:off x="8595360" y="1463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0,8316</a:t>
            </a:r>
            <a:endParaRPr lang="en-US" sz="4800" dirty="0"/>
          </a:p>
        </p:txBody>
      </p:sp>
      <p:sp>
        <p:nvSpPr>
          <p:cNvPr id="5" name="texte-105"/>
          <p:cNvSpPr txBox="1"/>
          <p:nvPr/>
        </p:nvSpPr>
        <p:spPr>
          <a:xfrm>
            <a:off x="859536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F1 pondéré de validation du modèle retenu</a:t>
            </a:r>
            <a:endParaRPr lang="en-US" sz="1500" dirty="0"/>
          </a:p>
        </p:txBody>
      </p:sp>
      <p:sp>
        <p:nvSpPr>
          <p:cNvPr id="6" name="texte-106"/>
          <p:cNvSpPr txBox="1"/>
          <p:nvPr/>
        </p:nvSpPr>
        <p:spPr>
          <a:xfrm>
            <a:off x="8595360" y="3154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+0,0203 au-dessus du repère texte publié par Rakuten (comparaison indicative).</a:t>
            </a:r>
            <a:endParaRPr lang="en-US" sz="1500" dirty="0"/>
          </a:p>
        </p:txBody>
      </p:sp>
      <p:sp>
        <p:nvSpPr>
          <p:cNvPr id="7" name="texte-107"/>
          <p:cNvSpPr txBox="1"/>
          <p:nvPr/>
        </p:nvSpPr>
        <p:spPr>
          <a:xfrm>
            <a:off x="8595360" y="4343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Rouge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: modèle retenu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Bleu foncé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: autres modèles du projet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Gris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: repères Rakuten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Pourquoi le modèle TF-IDF + LinearSVC est retenu</a:t>
            </a:r>
            <a:endParaRPr lang="en-US" sz="3000" dirty="0"/>
          </a:p>
        </p:txBody>
      </p:sp>
      <p:sp>
        <p:nvSpPr>
          <p:cNvPr id="3" name="texte-108"/>
          <p:cNvSpPr txBox="1"/>
          <p:nvPr/>
        </p:nvSpPr>
        <p:spPr>
          <a:xfrm>
            <a:off x="548640" y="1417320"/>
            <a:ext cx="5760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Les désignations contiennent des marques, références et termes métier très discriminants.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Les bigrammes conservent cette précision ; SBERT la lisse en 384 dimensions.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Entraînement en quelques secondes sur CPU, prédiction instantanée, sans GPU.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Résultat reproductible : le score est recalculé à l'identique depuis le modèle sauvegardé.</a:t>
            </a:r>
            <a:endParaRPr lang="en-US" sz="1600" dirty="0"/>
          </a:p>
        </p:txBody>
      </p:sp>
      <p:sp>
        <p:nvSpPr>
          <p:cNvPr id="4" name="panneau-109"/>
          <p:cNvSpPr/>
          <p:nvPr/>
        </p:nvSpPr>
        <p:spPr>
          <a:xfrm>
            <a:off x="6675120" y="1417320"/>
            <a:ext cx="4965192" cy="3611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e-110"/>
          <p:cNvSpPr txBox="1"/>
          <p:nvPr/>
        </p:nvSpPr>
        <p:spPr>
          <a:xfrm>
            <a:off x="6949440" y="1572768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Pourquoi 0,8316 et non 0,8403 ?</a:t>
            </a:r>
            <a:endParaRPr lang="en-US" sz="1700" dirty="0"/>
          </a:p>
        </p:txBody>
      </p:sp>
      <p:graphicFrame>
        <p:nvGraphicFramePr>
          <p:cNvPr id="10" name="tableau-ecart-f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029968"/>
          <a:ext cx="441655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176272"/>
                <a:gridCol w="640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Exécution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Texte utilisé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 juillet (rapports)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nettoyage simple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0,8403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31 août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 stopwords et stemming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0,8349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 sept. (modèle servi)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+ 27 mots fréquents retirés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0,8316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e-111"/>
          <p:cNvSpPr txBox="1"/>
          <p:nvPr/>
        </p:nvSpPr>
        <p:spPr>
          <a:xfrm>
            <a:off x="6949440" y="3840480"/>
            <a:ext cx="4416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Le score baisse légèrement à mesure que le texte est simplifié : le TF-IDF profite des formes exactes des mots. Images en 224 × 224 dans les trois cas ; ce modèle ne les utilise pas.</a:t>
            </a:r>
            <a:endParaRPr lang="en-US" sz="1300" dirty="0"/>
          </a:p>
        </p:txBody>
      </p:sp>
      <p:sp>
        <p:nvSpPr>
          <p:cNvPr id="8" name="texte-112"/>
          <p:cNvSpPr txBox="1"/>
          <p:nvPr/>
        </p:nvSpPr>
        <p:spPr>
          <a:xfrm>
            <a:off x="6675120" y="5257800"/>
            <a:ext cx="4965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Distinction importante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expériences image et fusion sont des résultats d'étude. L'application de démonstration utilise le modèle texte seul.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Interpréter le modèle : chaque terme a un poids par catégorie</a:t>
            </a:r>
            <a:endParaRPr lang="en-US" sz="3000" dirty="0"/>
          </a:p>
        </p:txBody>
      </p:sp>
      <p:sp>
        <p:nvSpPr>
          <p:cNvPr id="3" name="panneau-113"/>
          <p:cNvSpPr/>
          <p:nvPr/>
        </p:nvSpPr>
        <p:spPr>
          <a:xfrm>
            <a:off x="548640" y="1325880"/>
            <a:ext cx="5257800" cy="4754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e-114"/>
          <p:cNvSpPr txBox="1"/>
          <p:nvPr/>
        </p:nvSpPr>
        <p:spPr>
          <a:xfrm>
            <a:off x="822960" y="15087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Comment le modèle décide</a:t>
            </a:r>
            <a:endParaRPr lang="en-US" sz="1800" dirty="0"/>
          </a:p>
        </p:txBody>
      </p:sp>
      <p:sp>
        <p:nvSpPr>
          <p:cNvPr id="5" name="texte-115"/>
          <p:cNvSpPr txBox="1"/>
          <p:nvPr/>
        </p:nvSpPr>
        <p:spPr>
          <a:xfrm>
            <a:off x="822960" y="19659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score(catégorie) = Σ coefficient × TF-IDF + constante</a:t>
            </a:r>
            <a:endParaRPr lang="en-US" sz="1700" dirty="0"/>
          </a:p>
        </p:txBody>
      </p:sp>
      <p:sp>
        <p:nvSpPr>
          <p:cNvPr id="6" name="texte-116"/>
          <p:cNvSpPr txBox="1"/>
          <p:nvPr/>
        </p:nvSpPr>
        <p:spPr>
          <a:xfrm>
            <a:off x="822960" y="251460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 score est calculé pour chacune des 27 catégories ; la plus élevée est prédite.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Chaque terme possède un coefficient par catégorie : positif, il rapproche ; négatif, il éloigne.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contribution d'un terme dans une fiche vaut son coefficient × sa valeur TF-IDF : la décomposition du score est exacte.</a:t>
            </a:r>
            <a:endParaRPr lang="en-US" sz="1600" dirty="0"/>
          </a:p>
        </p:txBody>
      </p:sp>
      <p:sp>
        <p:nvSpPr>
          <p:cNvPr id="7" name="texte-117"/>
          <p:cNvSpPr txBox="1"/>
          <p:nvPr/>
        </p:nvSpPr>
        <p:spPr>
          <a:xfrm>
            <a:off x="822960" y="48920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Pourquoi pas SHAP ?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Sur 500 exemples, l'explainer devait densifier une matrice 500 × 200 000 (763 Mio) et a échoué. Les coefficients et coefficient × TF-IDF lisent directement le modèle, sans approximation.</a:t>
            </a:r>
            <a:endParaRPr lang="en-US" sz="1300" dirty="0"/>
          </a:p>
        </p:txBody>
      </p:sp>
      <p:sp>
        <p:nvSpPr>
          <p:cNvPr id="8" name="texte-118"/>
          <p:cNvSpPr txBox="1"/>
          <p:nvPr/>
        </p:nvSpPr>
        <p:spPr>
          <a:xfrm>
            <a:off x="6172200" y="1371600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Catégorie 10 · Livres d'occasion : coefficients les plus forts</a:t>
            </a:r>
            <a:endParaRPr lang="en-US" sz="1500" dirty="0"/>
          </a:p>
        </p:txBody>
      </p:sp>
      <p:graphicFrame>
        <p:nvGraphicFramePr>
          <p:cNvPr id="9" name="graphique-coefficients-classe-10" descr=""/>
          <p:cNvGraphicFramePr/>
          <p:nvPr/>
        </p:nvGraphicFramePr>
        <p:xfrm>
          <a:off x="6172200" y="1737360"/>
          <a:ext cx="5470855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e-119"/>
          <p:cNvSpPr txBox="1"/>
          <p:nvPr/>
        </p:nvSpPr>
        <p:spPr>
          <a:xfrm>
            <a:off x="6172200" y="5257800"/>
            <a:ext cx="5470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Bleu : rapproche de la catégorie 10. Rouge : en éloigne.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« lot » oriente vers 2403 (lots de livres), « jeu » et « yu » vers les jeux et cartes : ce sont les confusions observées.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Expliquer une prédiction : un livre classé comme magazine</a:t>
            </a:r>
            <a:endParaRPr lang="en-US" sz="3000" dirty="0"/>
          </a:p>
        </p:txBody>
      </p:sp>
      <p:sp>
        <p:nvSpPr>
          <p:cNvPr id="3" name="panneau-120"/>
          <p:cNvSpPr/>
          <p:nvPr/>
        </p:nvSpPr>
        <p:spPr>
          <a:xfrm>
            <a:off x="548640" y="1325880"/>
            <a:ext cx="5257800" cy="4754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e-121"/>
          <p:cNvSpPr txBox="1"/>
          <p:nvPr/>
        </p:nvSpPr>
        <p:spPr>
          <a:xfrm>
            <a:off x="822960" y="15087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Fiche de validation</a:t>
            </a:r>
            <a:endParaRPr lang="en-US" sz="1400" dirty="0"/>
          </a:p>
        </p:txBody>
      </p:sp>
      <p:sp>
        <p:nvSpPr>
          <p:cNvPr id="5" name="texte-122"/>
          <p:cNvSpPr txBox="1"/>
          <p:nvPr/>
        </p:nvSpPr>
        <p:spPr>
          <a:xfrm>
            <a:off x="822960" y="18288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« La Responsabilite Des Gens De Justice / Revue Justice No 5 1997 »</a:t>
            </a:r>
            <a:endParaRPr lang="en-US" sz="1700" dirty="0"/>
          </a:p>
        </p:txBody>
      </p:sp>
      <p:sp>
        <p:nvSpPr>
          <p:cNvPr id="6" name="texte-123"/>
          <p:cNvSpPr txBox="1"/>
          <p:nvPr/>
        </p:nvSpPr>
        <p:spPr>
          <a:xfrm>
            <a:off x="822960" y="26974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Texte après prétraitement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responsabilit gen justic revu justic no 1997</a:t>
            </a:r>
            <a:endParaRPr lang="en-US" sz="1400" dirty="0"/>
          </a:p>
        </p:txBody>
      </p:sp>
      <p:graphicFrame>
        <p:nvGraphicFramePr>
          <p:cNvPr id="12" name="tableau-scores-exemp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566160"/>
          <a:ext cx="4709160" cy="914400"/>
        </p:xfrm>
        <a:graphic>
          <a:graphicData uri="http://schemas.openxmlformats.org/drawingml/2006/table">
            <a:tbl>
              <a:tblPr/>
              <a:tblGrid>
                <a:gridCol w="370332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Catégorie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Score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2280 · Magazines et revues (prédite)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+0,131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2403 · Livres et bandes dessinées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−0,477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 · Livres d'occasion (vraie catégorie)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−1,460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e-124"/>
          <p:cNvSpPr txBox="1"/>
          <p:nvPr/>
        </p:nvSpPr>
        <p:spPr>
          <a:xfrm>
            <a:off x="822960" y="53492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Seuls cinq termes portent tout le signal, sans description.</a:t>
            </a:r>
            <a:endParaRPr lang="en-US" sz="1300" dirty="0"/>
          </a:p>
        </p:txBody>
      </p:sp>
      <p:sp>
        <p:nvSpPr>
          <p:cNvPr id="9" name="texte-125"/>
          <p:cNvSpPr txBox="1"/>
          <p:nvPr/>
        </p:nvSpPr>
        <p:spPr>
          <a:xfrm>
            <a:off x="6172200" y="1371600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Contribution de chaque terme au score de 2280</a:t>
            </a:r>
            <a:endParaRPr lang="en-US" sz="1500" dirty="0"/>
          </a:p>
        </p:txBody>
      </p:sp>
      <p:graphicFrame>
        <p:nvGraphicFramePr>
          <p:cNvPr id="10" name="graphique-contributions-exemple" descr=""/>
          <p:cNvGraphicFramePr/>
          <p:nvPr/>
        </p:nvGraphicFramePr>
        <p:xfrm>
          <a:off x="6172200" y="1737360"/>
          <a:ext cx="5470855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e-126"/>
          <p:cNvSpPr txBox="1"/>
          <p:nvPr/>
        </p:nvSpPr>
        <p:spPr>
          <a:xfrm>
            <a:off x="6172200" y="4572000"/>
            <a:ext cx="54708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« revu » et l'année « 1997 » ressemblent à un numéro de presse : l'erreur est compréhensible.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Contraste : pour la fiche « Kit piscine », « piscin » apporte à lui seul +1,85 au score de 2583.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L'application affiche ce calcul pour chaque prédiction (onglet Mots décisifs).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Quatre catégories restent sous 0,70 de F1</a:t>
            </a:r>
            <a:endParaRPr lang="en-US" sz="3000" dirty="0"/>
          </a:p>
        </p:txBody>
      </p:sp>
      <p:graphicFrame>
        <p:nvGraphicFramePr>
          <p:cNvPr id="3" name="graphique-f1-par-classe" descr=""/>
          <p:cNvGraphicFramePr/>
          <p:nvPr/>
        </p:nvGraphicFramePr>
        <p:xfrm>
          <a:off x="548640" y="1234440"/>
          <a:ext cx="539496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e-127"/>
          <p:cNvSpPr txBox="1"/>
          <p:nvPr/>
        </p:nvSpPr>
        <p:spPr>
          <a:xfrm>
            <a:off x="6309360" y="137160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Catégories sous 0,70</a:t>
            </a:r>
            <a:endParaRPr lang="en-US" sz="1700" dirty="0"/>
          </a:p>
        </p:txBody>
      </p:sp>
      <p:graphicFrame>
        <p:nvGraphicFramePr>
          <p:cNvPr id="13" name="tableau-classes-diffici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83080"/>
          <a:ext cx="5330952" cy="914400"/>
        </p:xfrm>
        <a:graphic>
          <a:graphicData uri="http://schemas.openxmlformats.org/drawingml/2006/table">
            <a:tbl>
              <a:tblPr/>
              <a:tblGrid>
                <a:gridCol w="4325112"/>
                <a:gridCol w="1005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Catégorie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F1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 · Livres d'occasion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0,526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1281 · Jeux de société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0,598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1180 · Jeux de rôle et figurines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0,682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1280 · Jouets pour enfants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0,692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e-128"/>
          <p:cNvSpPr txBox="1"/>
          <p:nvPr/>
        </p:nvSpPr>
        <p:spPr>
          <a:xfrm>
            <a:off x="6309360" y="379476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Confusions les plus fréquentes</a:t>
            </a:r>
            <a:endParaRPr lang="en-US" sz="1700" dirty="0"/>
          </a:p>
        </p:txBody>
      </p:sp>
      <p:graphicFrame>
        <p:nvGraphicFramePr>
          <p:cNvPr id="25" name="tableau-confus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4206240"/>
          <a:ext cx="5330952" cy="914400"/>
        </p:xfrm>
        <a:graphic>
          <a:graphicData uri="http://schemas.openxmlformats.org/drawingml/2006/table">
            <a:tbl>
              <a:tblPr/>
              <a:tblGrid>
                <a:gridCol w="4325112"/>
                <a:gridCol w="1005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Réelle → prédite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Erreurs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2403 Livres et bandes dessinées → 2280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131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1280 Jouets pour enfants → 1300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115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 Livres d'occasion → 2280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1281 Jeux de société → 1280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en-US" sz="14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e-129"/>
          <p:cNvSpPr txBox="1"/>
          <p:nvPr/>
        </p:nvSpPr>
        <p:spPr>
          <a:xfrm>
            <a:off x="6309360" y="6035040"/>
            <a:ext cx="5330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2 833 erreurs sur 16 984 produits de validation (16,7 %).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L'image corrige certaines erreurs, mais en ajoute davantage</a:t>
            </a:r>
            <a:endParaRPr lang="en-US" sz="3000" dirty="0"/>
          </a:p>
        </p:txBody>
      </p:sp>
      <p:graphicFrame>
        <p:nvGraphicFramePr>
          <p:cNvPr id="3" name="graphique-f1-trois-modeles" descr=""/>
          <p:cNvGraphicFramePr/>
          <p:nvPr/>
        </p:nvGraphicFramePr>
        <p:xfrm>
          <a:off x="548640" y="1280160"/>
          <a:ext cx="72237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e-130"/>
          <p:cNvSpPr txBox="1"/>
          <p:nvPr/>
        </p:nvSpPr>
        <p:spPr>
          <a:xfrm>
            <a:off x="8092440" y="1371600"/>
            <a:ext cx="3547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1 157</a:t>
            </a:r>
            <a:endParaRPr lang="en-US" sz="3800" dirty="0"/>
          </a:p>
        </p:txBody>
      </p:sp>
      <p:sp>
        <p:nvSpPr>
          <p:cNvPr id="5" name="texte-131"/>
          <p:cNvSpPr txBox="1"/>
          <p:nvPr/>
        </p:nvSpPr>
        <p:spPr>
          <a:xfrm>
            <a:off x="8092440" y="2084832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erreurs du modèle texte corrigées par la fusion</a:t>
            </a:r>
            <a:endParaRPr lang="en-US" sz="1500" dirty="0"/>
          </a:p>
        </p:txBody>
      </p:sp>
      <p:sp>
        <p:nvSpPr>
          <p:cNvPr id="6" name="texte-132"/>
          <p:cNvSpPr txBox="1"/>
          <p:nvPr/>
        </p:nvSpPr>
        <p:spPr>
          <a:xfrm>
            <a:off x="8092440" y="2788920"/>
            <a:ext cx="3547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3 203</a:t>
            </a:r>
            <a:endParaRPr lang="en-US" sz="3800" dirty="0"/>
          </a:p>
        </p:txBody>
      </p:sp>
      <p:sp>
        <p:nvSpPr>
          <p:cNvPr id="7" name="texte-133"/>
          <p:cNvSpPr txBox="1"/>
          <p:nvPr/>
        </p:nvSpPr>
        <p:spPr>
          <a:xfrm>
            <a:off x="8092440" y="3502152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erreurs de la fusion évitées par le modèle texte</a:t>
            </a:r>
            <a:endParaRPr lang="en-US" sz="1500" dirty="0"/>
          </a:p>
        </p:txBody>
      </p:sp>
      <p:sp>
        <p:nvSpPr>
          <p:cNvPr id="8" name="texte-134"/>
          <p:cNvSpPr txBox="1"/>
          <p:nvPr/>
        </p:nvSpPr>
        <p:spPr>
          <a:xfrm>
            <a:off x="8092440" y="4206240"/>
            <a:ext cx="3547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1 333</a:t>
            </a:r>
            <a:endParaRPr lang="en-US" sz="3800" dirty="0"/>
          </a:p>
        </p:txBody>
      </p:sp>
      <p:sp>
        <p:nvSpPr>
          <p:cNvPr id="9" name="texte-135"/>
          <p:cNvSpPr txBox="1"/>
          <p:nvPr/>
        </p:nvSpPr>
        <p:spPr>
          <a:xfrm>
            <a:off x="8092440" y="4919472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produits (7,8 %) mal classés par les trois modèles</a:t>
            </a:r>
            <a:endParaRPr lang="en-US" sz="1500" dirty="0"/>
          </a:p>
        </p:txBody>
      </p:sp>
      <p:sp>
        <p:nvSpPr>
          <p:cNvPr id="10" name="texte-136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Fusion évaluée avec les caractéristiques image extraites lors d'une première exécution du ResNet50.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Démonstration : classer une fiche en direct</a:t>
            </a:r>
            <a:endParaRPr lang="en-US" sz="3000" dirty="0"/>
          </a:p>
        </p:txBody>
      </p:sp>
      <p:sp>
        <p:nvSpPr>
          <p:cNvPr id="3" name="texte-137"/>
          <p:cNvSpPr txBox="1"/>
          <p:nvPr/>
        </p:nvSpPr>
        <p:spPr>
          <a:xfrm>
            <a:off x="548640" y="14173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0:20</a:t>
            </a:r>
            <a:endParaRPr lang="en-US" sz="1600" dirty="0"/>
          </a:p>
        </p:txBody>
      </p:sp>
      <p:sp>
        <p:nvSpPr>
          <p:cNvPr id="4" name="texte-138"/>
          <p:cNvSpPr txBox="1"/>
          <p:nvPr/>
        </p:nvSpPr>
        <p:spPr>
          <a:xfrm>
            <a:off x="1554480" y="1371600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Accueil</a:t>
            </a:r>
            <a:endParaRPr lang="en-US" sz="1700" dirty="0"/>
          </a:p>
        </p:txBody>
      </p:sp>
      <p:sp>
        <p:nvSpPr>
          <p:cNvPr id="5" name="texte-139"/>
          <p:cNvSpPr txBox="1"/>
          <p:nvPr/>
        </p:nvSpPr>
        <p:spPr>
          <a:xfrm>
            <a:off x="1554480" y="1737360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Contexte et modèle chargé</a:t>
            </a:r>
            <a:endParaRPr lang="en-US" sz="1500" dirty="0"/>
          </a:p>
        </p:txBody>
      </p:sp>
      <p:sp>
        <p:nvSpPr>
          <p:cNvPr id="6" name="texte-140"/>
          <p:cNvSpPr txBox="1"/>
          <p:nvPr/>
        </p:nvSpPr>
        <p:spPr>
          <a:xfrm>
            <a:off x="548640" y="2286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1:00</a:t>
            </a:r>
            <a:endParaRPr lang="en-US" sz="1600" dirty="0"/>
          </a:p>
        </p:txBody>
      </p:sp>
      <p:sp>
        <p:nvSpPr>
          <p:cNvPr id="7" name="texte-141"/>
          <p:cNvSpPr txBox="1"/>
          <p:nvPr/>
        </p:nvSpPr>
        <p:spPr>
          <a:xfrm>
            <a:off x="1554480" y="2240280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Fiche réelle « Kit piscine »</a:t>
            </a:r>
            <a:endParaRPr lang="en-US" sz="1700" dirty="0"/>
          </a:p>
        </p:txBody>
      </p:sp>
      <p:sp>
        <p:nvSpPr>
          <p:cNvPr id="8" name="texte-142"/>
          <p:cNvSpPr txBox="1"/>
          <p:nvPr/>
        </p:nvSpPr>
        <p:spPr>
          <a:xfrm>
            <a:off x="1554480" y="2606040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Prédit 2583 · Piscine et accessoires ; top 5 et mots décisifs</a:t>
            </a:r>
            <a:endParaRPr lang="en-US" sz="1500" dirty="0"/>
          </a:p>
        </p:txBody>
      </p:sp>
      <p:sp>
        <p:nvSpPr>
          <p:cNvPr id="9" name="texte-143"/>
          <p:cNvSpPr txBox="1"/>
          <p:nvPr/>
        </p:nvSpPr>
        <p:spPr>
          <a:xfrm>
            <a:off x="548640" y="3154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1:00</a:t>
            </a:r>
            <a:endParaRPr lang="en-US" sz="1600" dirty="0"/>
          </a:p>
        </p:txBody>
      </p:sp>
      <p:sp>
        <p:nvSpPr>
          <p:cNvPr id="10" name="texte-144"/>
          <p:cNvSpPr txBox="1"/>
          <p:nvPr/>
        </p:nvSpPr>
        <p:spPr>
          <a:xfrm>
            <a:off x="1554480" y="3108960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Saisie libre « Monopoly édition classique Hasbro jeu de plateau »</a:t>
            </a:r>
            <a:endParaRPr lang="en-US" sz="1700" dirty="0"/>
          </a:p>
        </p:txBody>
      </p:sp>
      <p:sp>
        <p:nvSpPr>
          <p:cNvPr id="11" name="texte-145"/>
          <p:cNvSpPr txBox="1"/>
          <p:nvPr/>
        </p:nvSpPr>
        <p:spPr>
          <a:xfrm>
            <a:off x="1554480" y="3474720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Prédit 1281 · Jeux de société</a:t>
            </a:r>
            <a:endParaRPr lang="en-US" sz="1500" dirty="0"/>
          </a:p>
        </p:txBody>
      </p:sp>
      <p:sp>
        <p:nvSpPr>
          <p:cNvPr id="12" name="texte-146"/>
          <p:cNvSpPr txBox="1"/>
          <p:nvPr/>
        </p:nvSpPr>
        <p:spPr>
          <a:xfrm>
            <a:off x="548640" y="4023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1:00</a:t>
            </a:r>
            <a:endParaRPr lang="en-US" sz="1600" dirty="0"/>
          </a:p>
        </p:txBody>
      </p:sp>
      <p:sp>
        <p:nvSpPr>
          <p:cNvPr id="13" name="texte-147"/>
          <p:cNvSpPr txBox="1"/>
          <p:nvPr/>
        </p:nvSpPr>
        <p:spPr>
          <a:xfrm>
            <a:off x="1554480" y="3977640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Limites du modèle</a:t>
            </a:r>
            <a:endParaRPr lang="en-US" sz="1700" dirty="0"/>
          </a:p>
        </p:txBody>
      </p:sp>
      <p:sp>
        <p:nvSpPr>
          <p:cNvPr id="14" name="texte-148"/>
          <p:cNvSpPr txBox="1"/>
          <p:nvPr/>
        </p:nvSpPr>
        <p:spPr>
          <a:xfrm>
            <a:off x="1554480" y="4343400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« La Promenade Au Parc » (code 10) prédit 2705 ; « Coque iPhone 12 », hors catalogue, reçoit quand même une catégorie</a:t>
            </a:r>
            <a:endParaRPr lang="en-US" sz="1500" dirty="0"/>
          </a:p>
        </p:txBody>
      </p:sp>
      <p:sp>
        <p:nvSpPr>
          <p:cNvPr id="15" name="texte-149"/>
          <p:cNvSpPr txBox="1"/>
          <p:nvPr/>
        </p:nvSpPr>
        <p:spPr>
          <a:xfrm>
            <a:off x="548640" y="4892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0:40</a:t>
            </a:r>
            <a:endParaRPr lang="en-US" sz="1600" dirty="0"/>
          </a:p>
        </p:txBody>
      </p:sp>
      <p:sp>
        <p:nvSpPr>
          <p:cNvPr id="16" name="texte-150"/>
          <p:cNvSpPr txBox="1"/>
          <p:nvPr/>
        </p:nvSpPr>
        <p:spPr>
          <a:xfrm>
            <a:off x="1554480" y="4846320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Analyse du modèle</a:t>
            </a:r>
            <a:endParaRPr lang="en-US" sz="1700" dirty="0"/>
          </a:p>
        </p:txBody>
      </p:sp>
      <p:sp>
        <p:nvSpPr>
          <p:cNvPr id="17" name="texte-151"/>
          <p:cNvSpPr txBox="1"/>
          <p:nvPr/>
        </p:nvSpPr>
        <p:spPr>
          <a:xfrm>
            <a:off x="1554480" y="5212080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F1 par catégorie et termes discriminants</a:t>
            </a:r>
            <a:endParaRPr lang="en-US" sz="1500" dirty="0"/>
          </a:p>
        </p:txBody>
      </p:sp>
      <p:sp>
        <p:nvSpPr>
          <p:cNvPr id="18" name="texte-152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Application lancée en local. Captures de secours en annexe. Le déploiement en ligne n'est présenté que s'il a été vérifié avant la séance.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Limites actuelles et pistes d'amélioration</a:t>
            </a:r>
            <a:endParaRPr lang="en-US" sz="3000" dirty="0"/>
          </a:p>
        </p:txBody>
      </p:sp>
      <p:sp>
        <p:nvSpPr>
          <p:cNvPr id="3" name="panneau-153"/>
          <p:cNvSpPr/>
          <p:nvPr/>
        </p:nvSpPr>
        <p:spPr>
          <a:xfrm>
            <a:off x="548640" y="1371600"/>
            <a:ext cx="5364328" cy="3429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nneau-154"/>
          <p:cNvSpPr/>
          <p:nvPr/>
        </p:nvSpPr>
        <p:spPr>
          <a:xfrm>
            <a:off x="6278728" y="1371600"/>
            <a:ext cx="5364328" cy="3429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e-155"/>
          <p:cNvSpPr txBox="1"/>
          <p:nvPr/>
        </p:nvSpPr>
        <p:spPr>
          <a:xfrm>
            <a:off x="822960" y="15544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Limites</a:t>
            </a:r>
            <a:endParaRPr lang="en-US" sz="2000" dirty="0"/>
          </a:p>
        </p:txBody>
      </p:sp>
      <p:sp>
        <p:nvSpPr>
          <p:cNvPr id="6" name="texte-156"/>
          <p:cNvSpPr txBox="1"/>
          <p:nvPr/>
        </p:nvSpPr>
        <p:spPr>
          <a:xfrm>
            <a:off x="822960" y="2103120"/>
            <a:ext cx="48156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Scores de décision non calibrés, sans option de rejet hors catalogue.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Quatre catégories sous 0,70, surtout livres, presse et jouets.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Fusion par concaténation brute : surapprentissage rapide, modalités non équilibrées.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Aucun score sur le jeu de test officiel, faute d'étiquettes.</a:t>
            </a:r>
            <a:endParaRPr lang="en-US" sz="1600" dirty="0"/>
          </a:p>
        </p:txBody>
      </p:sp>
      <p:sp>
        <p:nvSpPr>
          <p:cNvPr id="7" name="texte-157"/>
          <p:cNvSpPr txBox="1"/>
          <p:nvPr/>
        </p:nvSpPr>
        <p:spPr>
          <a:xfrm>
            <a:off x="6553048" y="15544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Pistes</a:t>
            </a:r>
            <a:endParaRPr lang="en-US" sz="2000" dirty="0"/>
          </a:p>
        </p:txBody>
      </p:sp>
      <p:sp>
        <p:nvSpPr>
          <p:cNvPr id="8" name="texte-158"/>
          <p:cNvSpPr txBox="1"/>
          <p:nvPr/>
        </p:nvSpPr>
        <p:spPr>
          <a:xfrm>
            <a:off x="6553048" y="2103120"/>
            <a:ext cx="48156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Calibrer les scores et fixer un seuil de revue humaine.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Normaliser chaque modalité avant la fusion, puis tester un vote pondéré.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Affiner un modèle de langue (CamemBERT, XLM-RoBERTa) sur la tâche.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Utiliser l'image en complément sur le groupe livres et presse.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Ce que nous retenons</a:t>
            </a:r>
            <a:endParaRPr lang="en-US" sz="3000" dirty="0"/>
          </a:p>
        </p:txBody>
      </p:sp>
      <p:sp>
        <p:nvSpPr>
          <p:cNvPr id="3" name="texte-159"/>
          <p:cNvSpPr txBox="1"/>
          <p:nvPr/>
        </p:nvSpPr>
        <p:spPr>
          <a:xfrm>
            <a:off x="548640" y="1463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</a:t>
            </a:r>
            <a:endParaRPr lang="en-US" sz="3200" dirty="0"/>
          </a:p>
        </p:txBody>
      </p:sp>
      <p:sp>
        <p:nvSpPr>
          <p:cNvPr id="4" name="texte-160"/>
          <p:cNvSpPr txBox="1"/>
          <p:nvPr/>
        </p:nvSpPr>
        <p:spPr>
          <a:xfrm>
            <a:off x="1280160" y="15087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Le texte porte l'essentiel du signal : TF-IDF + LinearSVC atteint 0,8316 en validation, au-dessus du repère texte Rakuten.</a:t>
            </a:r>
            <a:endParaRPr lang="en-US" sz="2000" dirty="0"/>
          </a:p>
        </p:txBody>
      </p:sp>
      <p:sp>
        <p:nvSpPr>
          <p:cNvPr id="5" name="texte-161"/>
          <p:cNvSpPr txBox="1"/>
          <p:nvPr/>
        </p:nvSpPr>
        <p:spPr>
          <a:xfrm>
            <a:off x="548640" y="26517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</a:t>
            </a:r>
            <a:endParaRPr lang="en-US" sz="3200" dirty="0"/>
          </a:p>
        </p:txBody>
      </p:sp>
      <p:sp>
        <p:nvSpPr>
          <p:cNvPr id="6" name="texte-162"/>
          <p:cNvSpPr txBox="1"/>
          <p:nvPr/>
        </p:nvSpPr>
        <p:spPr>
          <a:xfrm>
            <a:off x="1280160" y="26974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L'image apporte une information utile sur certaines catégories, mais la fusion testée ne l'exploite pas encore.</a:t>
            </a:r>
            <a:endParaRPr lang="en-US" sz="2000" dirty="0"/>
          </a:p>
        </p:txBody>
      </p:sp>
      <p:sp>
        <p:nvSpPr>
          <p:cNvPr id="7" name="texte-163"/>
          <p:cNvSpPr txBox="1"/>
          <p:nvPr/>
        </p:nvSpPr>
        <p:spPr>
          <a:xfrm>
            <a:off x="548640" y="38404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</a:t>
            </a:r>
            <a:endParaRPr lang="en-US" sz="3200" dirty="0"/>
          </a:p>
        </p:txBody>
      </p:sp>
      <p:sp>
        <p:nvSpPr>
          <p:cNvPr id="8" name="texte-164"/>
          <p:cNvSpPr txBox="1"/>
          <p:nvPr/>
        </p:nvSpPr>
        <p:spPr>
          <a:xfrm>
            <a:off x="1280160" y="38862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Le modèle retenu est servi dans une application reproductible, avec des décisions explicables.</a:t>
            </a:r>
            <a:endParaRPr lang="en-US" sz="2000" dirty="0"/>
          </a:p>
        </p:txBody>
      </p:sp>
      <p:sp>
        <p:nvSpPr>
          <p:cNvPr id="9" name="texte-165"/>
          <p:cNvSpPr txBox="1"/>
          <p:nvPr/>
        </p:nvSpPr>
        <p:spPr>
          <a:xfrm>
            <a:off x="548640" y="5257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Merci de votre attention. Nous répondons à vos questions.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Annexes</a:t>
            </a:r>
            <a:endParaRPr lang="en-US" sz="4000" dirty="0"/>
          </a:p>
        </p:txBody>
      </p:sp>
      <p:sp>
        <p:nvSpPr>
          <p:cNvPr id="3" name="texte-166"/>
          <p:cNvSpPr txBox="1"/>
          <p:nvPr/>
        </p:nvSpPr>
        <p:spPr>
          <a:xfrm>
            <a:off x="548640" y="35661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A1 Table de référence des résultats · A2 Écarts avec les rapports · A3 Hyperparamètres · A4 Courbes d'apprentissage · A5 Matrice de confusion · A6 Chevauchement des erreurs · A7 et A8 Captures de secours · A9 Environnement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A1 · Table de référence des résultats</a:t>
            </a:r>
            <a:endParaRPr lang="en-US" sz="2600" dirty="0"/>
          </a:p>
        </p:txBody>
      </p:sp>
      <p:graphicFrame>
        <p:nvGraphicFramePr>
          <p:cNvPr id="19" name="tableau-referen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37360"/>
                <a:gridCol w="3291840"/>
                <a:gridCol w="34107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Indicateur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Valeur retenue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Protocole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TF-IDF + LinearSVC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0,8316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Notebooks 02 et 03 réexécutés ; recalcul sur le modèle servi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Validation 16 984, F1 pondéré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TF-IDF + LinearSVC, 8 juillet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0,8403 (historique)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Rapports 2 et 3 ; notebook 02_modeling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Nettoyage simple, sans stopwords ni stemming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TF-IDF + LinearSVC, 31 août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0,8349 (historique)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Notebook 02_modeling_V2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Avec stopwords et stemming, sans retrait des 27 mots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SBERT + MLP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0,7542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Notebook 02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Validation ; embeddings mis en cache le 11 mars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SBERT + régression logistique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0,6829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Notebook 02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Validation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ResNet50 phase 1 / phase 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0,6189 / 0,6799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Notebook 02 (3 septembre)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Validation ; rapports : 0,6174 / 0,6836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Fusion SBERT + ResNet50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0,7105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Notebooks 02 et 03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Meilleur checkpoint ; rapport 2 : 0,7081 ; caractéristiques image du cache du 11 mars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Repères Rakuten texte / image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0,8113 / 0,5534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Challenge Rakuten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Publiés par le challenge, autre protocole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Jeu de test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Aucun score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Notebook 03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13 812 prédictions exportées, étiquettes non fournies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A2 · Écarts entre les rapports écrits et l'exécution actuelle</a:t>
            </a:r>
            <a:endParaRPr lang="en-US" sz="2600" dirty="0"/>
          </a:p>
        </p:txBody>
      </p:sp>
      <p:graphicFrame>
        <p:nvGraphicFramePr>
          <p:cNvPr id="20" name="tableau-ecar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566160"/>
                <a:gridCol w="469087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Élément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Rapports 1 à 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Valeur retenue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Prétraitement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Sans stopwords ni stemming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Stopwords NLTK, stemming Snowball, 27 mots fréquents retirés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F1 du modèle retenu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0,8403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0,8316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Catégories sous 0,70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 (10 et 1281)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 (10, 1281, 1180, 1280)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Erreurs de validation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2 691 (15,8 %)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2 833 (16,7 %)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Chevauchement des erreurs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9 852 / 1 081 / 3 269 / 1 290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9 810 / 1 157 / 3 203 / 1 333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Libellés de catégories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Variables selon les documents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Codes officiels, libellés indicatifs de l'application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Interprétabilité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Coefficient × TF-IDF présenté comme valeur SHAP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Décomposition exacte du score, pas une valeur SHAP (notebook 3)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Auteurs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Emplacements non renseignés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Khoty WOLIE, HaoYue Yuan, Loyck Bibissi ; mentor Kylian Santos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A3 · Hyperparamètres des modèles</a:t>
            </a:r>
            <a:endParaRPr lang="en-US" sz="2600" dirty="0"/>
          </a:p>
        </p:txBody>
      </p:sp>
      <p:graphicFrame>
        <p:nvGraphicFramePr>
          <p:cNvPr id="21" name="tableau-hyperparamet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Modèle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Configuration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TF-IDF + LinearSVC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TfidfVectorizer : ngram_range (1, 2), max_features 200 000, min_df 2, sublinear_tf ; LinearSVC : C = 1, max_iter 2 000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SBERT + MLP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paraphrase-multilingual-MiniLM-L12-v2 (384) ; MLP 512 → 256, dropout 0,3 ; Adam lr 1e-3 ; 30 époques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ResNet50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ImageNet ; tête Dropout 0,4 → 512 → 27 ; phase 1 : 10 époques, backbone gelé ; phase 2 : 15 époques, layer4 dégelé, lr 1e-4 ; AdamW, OneCycleLR, label smoothing 0,1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Fusion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Entrée 2 432 (384 + 2 048) ; MLP 1 024 → 512 → 256, dropout 0,4 ; Adam lr 5e-4 ; 40 époques ; 3 158 043 paramètres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A4 · Courbes d'apprentissage des modèles neuronaux</a:t>
            </a:r>
            <a:endParaRPr lang="en-US" sz="2600" dirty="0"/>
          </a:p>
        </p:txBody>
      </p:sp>
      <p:pic>
        <p:nvPicPr>
          <p:cNvPr id="3" name="courbe-sbert" descr="courbe-sb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7181" y="1234440"/>
            <a:ext cx="6777332" cy="2377440"/>
          </a:xfrm>
          <a:prstGeom prst="rect">
            <a:avLst/>
          </a:prstGeom>
        </p:spPr>
      </p:pic>
      <p:pic>
        <p:nvPicPr>
          <p:cNvPr id="4" name="courbe-resnet50" descr="courbe-resnet5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925" y="3703320"/>
            <a:ext cx="6783846" cy="2377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A5 · Matrice de confusion du modèle retenu</a:t>
            </a:r>
            <a:endParaRPr lang="en-US" sz="2600" dirty="0"/>
          </a:p>
        </p:txBody>
      </p:sp>
      <p:pic>
        <p:nvPicPr>
          <p:cNvPr id="3" name="matrice-confusion" descr="matrice-confu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5356" y="1188720"/>
            <a:ext cx="5540984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A6 · Chevauchement des erreurs des trois modèles</a:t>
            </a:r>
            <a:endParaRPr lang="en-US" sz="2600" dirty="0"/>
          </a:p>
        </p:txBody>
      </p:sp>
      <p:graphicFrame>
        <p:nvGraphicFramePr>
          <p:cNvPr id="24" name="tableau-chevauchemen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Configuration sur la validation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Produits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Part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Tous corrects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9 810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57,8 %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Seul TF-IDF + LinearSVC correct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935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5,5 %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Fusion correcte, TF-IDF faux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1 157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6,8 %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TF-IDF correct, fusion fausse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3 203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18,9 %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Tous faux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1 333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7,8 %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e-167"/>
          <p:cNvSpPr txBox="1"/>
          <p:nvPr/>
        </p:nvSpPr>
        <p:spPr>
          <a:xfrm>
            <a:off x="548640" y="4754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Les catégories se recoupent : un même produit peut entrer dans plusieurs lignes. Source : notebook 03 réexécuté, modèles TF-IDF + LinearSVC, SBERT + MLP et fusion.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A7 · Captures de secours : prédictions correctes</a:t>
            </a:r>
            <a:endParaRPr lang="en-US" sz="2600" dirty="0"/>
          </a:p>
        </p:txBody>
      </p:sp>
      <p:pic>
        <p:nvPicPr>
          <p:cNvPr id="3" name="capture-kit-piscine" descr="capture-kit-pisc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36667"/>
            <a:ext cx="5410048" cy="3041667"/>
          </a:xfrm>
          <a:prstGeom prst="rect">
            <a:avLst/>
          </a:prstGeom>
        </p:spPr>
      </p:pic>
      <p:pic>
        <p:nvPicPr>
          <p:cNvPr id="4" name="capture-saisie-libre" descr="capture-saisie-lib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36667"/>
            <a:ext cx="5410048" cy="3041667"/>
          </a:xfrm>
          <a:prstGeom prst="rect">
            <a:avLst/>
          </a:prstGeom>
        </p:spPr>
      </p:pic>
      <p:sp>
        <p:nvSpPr>
          <p:cNvPr id="5" name="texte-168"/>
          <p:cNvSpPr txBox="1"/>
          <p:nvPr/>
        </p:nvSpPr>
        <p:spPr>
          <a:xfrm>
            <a:off x="548640" y="4572000"/>
            <a:ext cx="541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Fiche réelle « Kit piscine » : 2583</a:t>
            </a:r>
            <a:endParaRPr lang="en-US" sz="1400" dirty="0"/>
          </a:p>
        </p:txBody>
      </p:sp>
      <p:sp>
        <p:nvSpPr>
          <p:cNvPr id="6" name="texte-169"/>
          <p:cNvSpPr txBox="1"/>
          <p:nvPr/>
        </p:nvSpPr>
        <p:spPr>
          <a:xfrm>
            <a:off x="6233008" y="4572000"/>
            <a:ext cx="541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Saisie libre « Monopoly édition classique Hasbro jeu de plateau » : 1281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A8 · Captures de secours : limite du modèle et analyse</a:t>
            </a:r>
            <a:endParaRPr lang="en-US" sz="2600" dirty="0"/>
          </a:p>
        </p:txBody>
      </p:sp>
      <p:pic>
        <p:nvPicPr>
          <p:cNvPr id="3" name="capture-limite" descr="capture-lim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36667"/>
            <a:ext cx="5410048" cy="3041667"/>
          </a:xfrm>
          <a:prstGeom prst="rect">
            <a:avLst/>
          </a:prstGeom>
        </p:spPr>
      </p:pic>
      <p:pic>
        <p:nvPicPr>
          <p:cNvPr id="4" name="capture-analyse" descr="capture-analy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36667"/>
            <a:ext cx="5410048" cy="3041667"/>
          </a:xfrm>
          <a:prstGeom prst="rect">
            <a:avLst/>
          </a:prstGeom>
        </p:spPr>
      </p:pic>
      <p:sp>
        <p:nvSpPr>
          <p:cNvPr id="5" name="texte-170"/>
          <p:cNvSpPr txBox="1"/>
          <p:nvPr/>
        </p:nvSpPr>
        <p:spPr>
          <a:xfrm>
            <a:off x="548640" y="4572000"/>
            <a:ext cx="541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« La Promenade Au Parc » : code réel 10, prédit 2705</a:t>
            </a:r>
            <a:endParaRPr lang="en-US" sz="1400" dirty="0"/>
          </a:p>
        </p:txBody>
      </p:sp>
      <p:sp>
        <p:nvSpPr>
          <p:cNvPr id="6" name="texte-171"/>
          <p:cNvSpPr txBox="1"/>
          <p:nvPr/>
        </p:nvSpPr>
        <p:spPr>
          <a:xfrm>
            <a:off x="6233008" y="4572000"/>
            <a:ext cx="541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Page Analyse du modèle : F1 par catégorie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A9 · Environnement et reproductibilité</a:t>
            </a:r>
            <a:endParaRPr lang="en-US" sz="2600" dirty="0"/>
          </a:p>
        </p:txBody>
      </p:sp>
      <p:graphicFrame>
        <p:nvGraphicFramePr>
          <p:cNvPr id="27" name="tableau-environnemen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Élément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Détail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Entraînement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Windows 11, Intel Core Ultra 9 275HX, 32 Go de RAM, NVIDIA RTX 5070 Ti Laptop (12 Go)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Logiciels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Python 3.10, PyTorch nightly cu128 (architecture Blackwell), scikit-learn 1.7.2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Modèle servi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models/baselines/tfidf_linearsvc.pkl, 49 Mio, chargé une fois par processus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Application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Streamlit 1.55, dépendances figées dans streamlit_app/requirements.txt, sans GPU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Vérifications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Prétraitement identique au notebook sur 500 fiches ; F1 recalculé à 0,8316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kuten soutenance">
  <a:themeElements>
    <a:clrScheme name="Rakuten soutenance">
      <a:dk1>
        <a:srgbClr val="14213D"/>
      </a:dk1>
      <a:lt1>
        <a:srgbClr val="FFFFFF"/>
      </a:lt1>
      <a:dk2>
        <a:srgbClr val="4A5568"/>
      </a:dk2>
      <a:lt2>
        <a:srgbClr val="F3F5F9"/>
      </a:lt2>
      <a:accent1>
        <a:srgbClr val="BF1E2E"/>
      </a:accent1>
      <a:accent2>
        <a:srgbClr val="14213D"/>
      </a:accent2>
      <a:accent3>
        <a:srgbClr val="9AA5B8"/>
      </a:accent3>
      <a:accent4>
        <a:srgbClr val="2A6F97"/>
      </a:accent4>
      <a:accent5>
        <a:srgbClr val="6B7689"/>
      </a:accent5>
      <a:accent6>
        <a:srgbClr val="DFE4EC"/>
      </a:accent6>
      <a:hlink>
        <a:srgbClr val="2A6F97"/>
      </a:hlink>
      <a:folHlink>
        <a:srgbClr val="6B7689"/>
      </a:folHlink>
    </a:clrScheme>
    <a:fontScheme name="Rakuten soutenan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de produits Rakuten, soutenance</dc:title>
  <dc:subject>Soutenance du projet fil rouge Rakuten</dc:subject>
  <dc:creator>Khoty WOLIE, HaoYue Yuan, Loyck Bibissi</dc:creator>
  <cp:lastModifiedBy>Khoty WOLIE, HaoYue Yuan, Loyck Bibissi</cp:lastModifiedBy>
  <cp:revision>1</cp:revision>
  <dcterms:created xsi:type="dcterms:W3CDTF">2026-10-12T18:17:39Z</dcterms:created>
  <dcterms:modified xsi:type="dcterms:W3CDTF">2026-10-12T18:17:39Z</dcterms:modified>
</cp:coreProperties>
</file>